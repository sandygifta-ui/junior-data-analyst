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 Sales</c:v>
                </c:pt>
              </c:strCache>
            </c:strRef>
          </c:tx>
          <c:spPr>
            <a:solidFill>
              <a:srgbClr val="0E7C7B"/>
            </a:solidFill>
            <a:effectLst/>
          </c:spPr>
          <c:invertIfNegative val="0"/>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Consumer</c:v>
                  </c:pt>
                  <c:pt idx="1">
                    <c:v>Corporate</c:v>
                  </c:pt>
                  <c:pt idx="2">
                    <c:v>Home Office</c:v>
                  </c:pt>
                </c:lvl>
              </c:multiLvlStrCache>
            </c:multiLvlStrRef>
          </c:cat>
          <c:val>
            <c:numRef>
              <c:f>Sheet1!$B$2:$B$4</c:f>
              <c:numCache>
                <c:formatCode>General</c:formatCode>
                <c:ptCount val="3"/>
                <c:pt idx="0">
                  <c:v>1161401</c:v>
                </c:pt>
                <c:pt idx="1">
                  <c:v>706146</c:v>
                </c:pt>
                <c:pt idx="2">
                  <c:v>429372</c:v>
                </c:pt>
              </c:numCache>
            </c:numRef>
          </c:val>
        </c:ser>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E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Jumlah Pelanggan</c:v>
                </c:pt>
              </c:strCache>
            </c:strRef>
          </c:tx>
          <c:spPr>
            <a:solidFill>
              <a:srgbClr val="0E7C7B"/>
            </a:solidFill>
            <a:effectLst/>
          </c:spPr>
          <c:invertIfNegative val="0"/>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cat>
            <c:multiLvlStrRef>
              <c:f>Sheet1!$A$2:$A$5</c:f>
              <c:multiLvlStrCache>
                <c:ptCount val="4"/>
                <c:lvl>
                  <c:pt idx="0">
                    <c:v>West</c:v>
                  </c:pt>
                  <c:pt idx="1">
                    <c:v>East</c:v>
                  </c:pt>
                  <c:pt idx="2">
                    <c:v>Central</c:v>
                  </c:pt>
                  <c:pt idx="3">
                    <c:v>South</c:v>
                  </c:pt>
                </c:lvl>
              </c:multiLvlStrCache>
            </c:multiLvlStrRef>
          </c:cat>
          <c:val>
            <c:numRef>
              <c:f>Sheet1!$B$2:$B$5</c:f>
              <c:numCache>
                <c:formatCode>General</c:formatCode>
                <c:ptCount val="4"/>
                <c:pt idx="0">
                  <c:v>686</c:v>
                </c:pt>
                <c:pt idx="1">
                  <c:v>674</c:v>
                </c:pt>
                <c:pt idx="2">
                  <c:v>629</c:v>
                </c:pt>
                <c:pt idx="3">
                  <c:v>512</c:v>
                </c:pt>
              </c:numCache>
            </c:numRef>
          </c:val>
        </c:ser>
        <c:dLbls>
          <c:numFmt formatCode="#,##0" sourceLinked="0"/>
          <c:txPr>
            <a:bodyPr/>
            <a:lstStyle/>
            <a:p>
              <a:pPr>
                <a:defRPr b="0" i="0" strike="noStrike" sz="11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E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9418320" y="-2011680"/>
            <a:ext cx="5486400" cy="5486400"/>
          </a:xfrm>
          <a:prstGeom prst="ellipse">
            <a:avLst/>
          </a:prstGeom>
          <a:solidFill>
            <a:srgbClr val="14938F"/>
          </a:solidFill>
          <a:ln/>
        </p:spPr>
      </p:sp>
      <p:sp>
        <p:nvSpPr>
          <p:cNvPr id="3" name="Shape 1"/>
          <p:cNvSpPr/>
          <p:nvPr/>
        </p:nvSpPr>
        <p:spPr>
          <a:xfrm>
            <a:off x="-2286000" y="4846320"/>
            <a:ext cx="4572000" cy="4572000"/>
          </a:xfrm>
          <a:prstGeom prst="ellipse">
            <a:avLst/>
          </a:prstGeom>
          <a:solidFill>
            <a:srgbClr val="14938F"/>
          </a:solidFill>
          <a:ln/>
        </p:spPr>
      </p:sp>
      <p:sp>
        <p:nvSpPr>
          <p:cNvPr id="4" name="Text 2"/>
          <p:cNvSpPr txBox="1"/>
          <p:nvPr/>
        </p:nvSpPr>
        <p:spPr>
          <a:xfrm>
            <a:off x="822960" y="2331720"/>
            <a:ext cx="105156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CUSTOMER BEHAVIOR ANALYSIS</a:t>
            </a:r>
            <a:endParaRPr lang="en-US" sz="4000" dirty="0"/>
          </a:p>
        </p:txBody>
      </p:sp>
      <p:sp>
        <p:nvSpPr>
          <p:cNvPr id="5" name="Text 3"/>
          <p:cNvSpPr txBox="1"/>
          <p:nvPr/>
        </p:nvSpPr>
        <p:spPr>
          <a:xfrm>
            <a:off x="822960" y="3246120"/>
            <a:ext cx="8503920" cy="822960"/>
          </a:xfrm>
          <a:prstGeom prst="rect">
            <a:avLst/>
          </a:prstGeom>
          <a:noFill/>
          <a:ln/>
        </p:spPr>
        <p:txBody>
          <a:bodyPr wrap="square" lIns="0" tIns="0" rIns="0" bIns="0" rtlCol="0" anchor="ctr"/>
          <a:lstStyle/>
          <a:p>
            <a:pPr indent="0" marL="0">
              <a:buNone/>
            </a:pPr>
            <a:r>
              <a:rPr lang="en-US" sz="1500" i="1" dirty="0">
                <a:solidFill>
                  <a:srgbClr val="BDEDE3"/>
                </a:solidFill>
                <a:latin typeface="Calibri" pitchFamily="34" charset="0"/>
                <a:ea typeface="Calibri" pitchFamily="34" charset="-122"/>
                <a:cs typeface="Calibri" pitchFamily="34" charset="-120"/>
              </a:rPr>
              <a:t>Memahami Pola Belanja Pelanggan Superstore Inc. untuk Strategi Retensi dan Akuisisi yang Lebih Tepat Sasaran</a:t>
            </a:r>
            <a:endParaRPr lang="en-US" sz="1500" dirty="0"/>
          </a:p>
        </p:txBody>
      </p:sp>
      <p:sp>
        <p:nvSpPr>
          <p:cNvPr id="6" name="Text 4"/>
          <p:cNvSpPr txBox="1"/>
          <p:nvPr/>
        </p:nvSpPr>
        <p:spPr>
          <a:xfrm>
            <a:off x="822960" y="5989320"/>
            <a:ext cx="54864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Disusun oleh Sandya Gifta</a:t>
            </a:r>
            <a:endParaRPr lang="en-US" sz="1200" dirty="0"/>
          </a:p>
        </p:txBody>
      </p:sp>
      <p:sp>
        <p:nvSpPr>
          <p:cNvPr id="7" name="Text 5"/>
          <p:cNvSpPr txBox="1"/>
          <p:nvPr/>
        </p:nvSpPr>
        <p:spPr>
          <a:xfrm>
            <a:off x="822960" y="6309360"/>
            <a:ext cx="5486400" cy="320040"/>
          </a:xfrm>
          <a:prstGeom prst="rect">
            <a:avLst/>
          </a:prstGeom>
          <a:noFill/>
          <a:ln/>
        </p:spPr>
        <p:txBody>
          <a:bodyPr wrap="square" lIns="0" tIns="0" rIns="0" bIns="0" rtlCol="0" anchor="ctr"/>
          <a:lstStyle/>
          <a:p>
            <a:pPr indent="0" marL="0">
              <a:buNone/>
            </a:pPr>
            <a:r>
              <a:rPr lang="en-US" sz="1050" dirty="0">
                <a:solidFill>
                  <a:srgbClr val="BDEDE3"/>
                </a:solidFill>
                <a:latin typeface="Calibri" pitchFamily="34" charset="0"/>
                <a:ea typeface="Calibri" pitchFamily="34" charset="-122"/>
                <a:cs typeface="Calibri" pitchFamily="34" charset="-120"/>
              </a:rPr>
              <a:t>Final Project - Simulasi Industri Junior Data Analyst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Executive Summary</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Ringkasan project analisis perilaku pelanggan Superstore Inc. periode 2015-2018</a:t>
            </a:r>
            <a:endParaRPr lang="en-US" sz="1250" dirty="0"/>
          </a:p>
        </p:txBody>
      </p:sp>
      <p:sp>
        <p:nvSpPr>
          <p:cNvPr id="4" name="Text 2"/>
          <p:cNvSpPr txBox="1"/>
          <p:nvPr/>
        </p:nvSpPr>
        <p:spPr>
          <a:xfrm>
            <a:off x="640080" y="1920240"/>
            <a:ext cx="2468880" cy="822960"/>
          </a:xfrm>
          <a:prstGeom prst="rect">
            <a:avLst/>
          </a:prstGeom>
          <a:noFill/>
          <a:ln/>
        </p:spPr>
        <p:txBody>
          <a:bodyPr wrap="square" lIns="0" tIns="0" rIns="0" bIns="0" rtlCol="0" anchor="ctr"/>
          <a:lstStyle/>
          <a:p>
            <a:pPr algn="l" indent="0" marL="0">
              <a:buNone/>
            </a:pPr>
            <a:r>
              <a:rPr lang="en-US" sz="4200" b="1" dirty="0">
                <a:solidFill>
                  <a:srgbClr val="0E7C7B"/>
                </a:solidFill>
                <a:latin typeface="Calibri" pitchFamily="34" charset="0"/>
                <a:ea typeface="Calibri" pitchFamily="34" charset="-122"/>
                <a:cs typeface="Calibri" pitchFamily="34" charset="-120"/>
              </a:rPr>
              <a:t>9.993</a:t>
            </a:r>
            <a:endParaRPr lang="en-US" sz="4200" dirty="0"/>
          </a:p>
        </p:txBody>
      </p:sp>
      <p:sp>
        <p:nvSpPr>
          <p:cNvPr id="5" name="Text 3"/>
          <p:cNvSpPr txBox="1"/>
          <p:nvPr/>
        </p:nvSpPr>
        <p:spPr>
          <a:xfrm>
            <a:off x="640080" y="267004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Transaksi Bersih</a:t>
            </a:r>
            <a:endParaRPr lang="en-US" sz="1100" dirty="0"/>
          </a:p>
        </p:txBody>
      </p:sp>
      <p:sp>
        <p:nvSpPr>
          <p:cNvPr id="6" name="Text 4"/>
          <p:cNvSpPr txBox="1"/>
          <p:nvPr/>
        </p:nvSpPr>
        <p:spPr>
          <a:xfrm>
            <a:off x="3383280" y="1920240"/>
            <a:ext cx="2468880" cy="822960"/>
          </a:xfrm>
          <a:prstGeom prst="rect">
            <a:avLst/>
          </a:prstGeom>
          <a:noFill/>
          <a:ln/>
        </p:spPr>
        <p:txBody>
          <a:bodyPr wrap="square" lIns="0" tIns="0" rIns="0" bIns="0" rtlCol="0" anchor="ctr"/>
          <a:lstStyle/>
          <a:p>
            <a:pPr algn="l" indent="0" marL="0">
              <a:buNone/>
            </a:pPr>
            <a:r>
              <a:rPr lang="en-US" sz="4200" b="1" dirty="0">
                <a:solidFill>
                  <a:srgbClr val="0E7C7B"/>
                </a:solidFill>
                <a:latin typeface="Calibri" pitchFamily="34" charset="0"/>
                <a:ea typeface="Calibri" pitchFamily="34" charset="-122"/>
                <a:cs typeface="Calibri" pitchFamily="34" charset="-120"/>
              </a:rPr>
              <a:t>793</a:t>
            </a:r>
            <a:endParaRPr lang="en-US" sz="4200" dirty="0"/>
          </a:p>
        </p:txBody>
      </p:sp>
      <p:sp>
        <p:nvSpPr>
          <p:cNvPr id="7" name="Text 5"/>
          <p:cNvSpPr txBox="1"/>
          <p:nvPr/>
        </p:nvSpPr>
        <p:spPr>
          <a:xfrm>
            <a:off x="3383280" y="267004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Pelanggan Unik</a:t>
            </a:r>
            <a:endParaRPr lang="en-US" sz="1100" dirty="0"/>
          </a:p>
        </p:txBody>
      </p:sp>
      <p:sp>
        <p:nvSpPr>
          <p:cNvPr id="8" name="Text 6"/>
          <p:cNvSpPr txBox="1"/>
          <p:nvPr/>
        </p:nvSpPr>
        <p:spPr>
          <a:xfrm>
            <a:off x="6126480" y="1920240"/>
            <a:ext cx="2468880" cy="822960"/>
          </a:xfrm>
          <a:prstGeom prst="rect">
            <a:avLst/>
          </a:prstGeom>
          <a:noFill/>
          <a:ln/>
        </p:spPr>
        <p:txBody>
          <a:bodyPr wrap="square" lIns="0" tIns="0" rIns="0" bIns="0" rtlCol="0" anchor="ctr"/>
          <a:lstStyle/>
          <a:p>
            <a:pPr algn="l" indent="0" marL="0">
              <a:buNone/>
            </a:pPr>
            <a:r>
              <a:rPr lang="en-US" sz="4200" b="1" dirty="0">
                <a:solidFill>
                  <a:srgbClr val="0E7C7B"/>
                </a:solidFill>
                <a:latin typeface="Calibri" pitchFamily="34" charset="0"/>
                <a:ea typeface="Calibri" pitchFamily="34" charset="-122"/>
                <a:cs typeface="Calibri" pitchFamily="34" charset="-120"/>
              </a:rPr>
              <a:t>4</a:t>
            </a:r>
            <a:endParaRPr lang="en-US" sz="4200" dirty="0"/>
          </a:p>
        </p:txBody>
      </p:sp>
      <p:sp>
        <p:nvSpPr>
          <p:cNvPr id="9" name="Text 7"/>
          <p:cNvSpPr txBox="1"/>
          <p:nvPr/>
        </p:nvSpPr>
        <p:spPr>
          <a:xfrm>
            <a:off x="6126480" y="267004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Wilayah Analisis</a:t>
            </a:r>
            <a:endParaRPr lang="en-US" sz="1100" dirty="0"/>
          </a:p>
        </p:txBody>
      </p:sp>
      <p:sp>
        <p:nvSpPr>
          <p:cNvPr id="10" name="Text 8"/>
          <p:cNvSpPr txBox="1"/>
          <p:nvPr/>
        </p:nvSpPr>
        <p:spPr>
          <a:xfrm>
            <a:off x="8869680" y="1920240"/>
            <a:ext cx="2468880" cy="822960"/>
          </a:xfrm>
          <a:prstGeom prst="rect">
            <a:avLst/>
          </a:prstGeom>
          <a:noFill/>
          <a:ln/>
        </p:spPr>
        <p:txBody>
          <a:bodyPr wrap="square" lIns="0" tIns="0" rIns="0" bIns="0" rtlCol="0" anchor="ctr"/>
          <a:lstStyle/>
          <a:p>
            <a:pPr algn="l" indent="0" marL="0">
              <a:buNone/>
            </a:pPr>
            <a:r>
              <a:rPr lang="en-US" sz="4200" b="1" dirty="0">
                <a:solidFill>
                  <a:srgbClr val="0E7C7B"/>
                </a:solidFill>
                <a:latin typeface="Calibri" pitchFamily="34" charset="0"/>
                <a:ea typeface="Calibri" pitchFamily="34" charset="-122"/>
                <a:cs typeface="Calibri" pitchFamily="34" charset="-120"/>
              </a:rPr>
              <a:t>3</a:t>
            </a:r>
            <a:endParaRPr lang="en-US" sz="4200" dirty="0"/>
          </a:p>
        </p:txBody>
      </p:sp>
      <p:sp>
        <p:nvSpPr>
          <p:cNvPr id="11" name="Text 9"/>
          <p:cNvSpPr txBox="1"/>
          <p:nvPr/>
        </p:nvSpPr>
        <p:spPr>
          <a:xfrm>
            <a:off x="8869680" y="267004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Temuan Utama</a:t>
            </a:r>
            <a:endParaRPr lang="en-US" sz="1100" dirty="0"/>
          </a:p>
        </p:txBody>
      </p:sp>
      <p:sp>
        <p:nvSpPr>
          <p:cNvPr id="12" name="Shape 10"/>
          <p:cNvSpPr/>
          <p:nvPr/>
        </p:nvSpPr>
        <p:spPr>
          <a:xfrm>
            <a:off x="640080" y="3291840"/>
            <a:ext cx="10881360" cy="2743200"/>
          </a:xfrm>
          <a:prstGeom prst="roundRect">
            <a:avLst>
              <a:gd name="adj" fmla="val 2667"/>
            </a:avLst>
          </a:prstGeom>
          <a:solidFill>
            <a:srgbClr val="EFFAF7"/>
          </a:solidFill>
          <a:ln/>
        </p:spPr>
      </p:sp>
      <p:sp>
        <p:nvSpPr>
          <p:cNvPr id="13" name="Text 11"/>
          <p:cNvSpPr txBox="1"/>
          <p:nvPr/>
        </p:nvSpPr>
        <p:spPr>
          <a:xfrm>
            <a:off x="1005840" y="3566160"/>
            <a:ext cx="10149840" cy="1463040"/>
          </a:xfrm>
          <a:prstGeom prst="rect">
            <a:avLst/>
          </a:prstGeom>
          <a:noFill/>
          <a:ln/>
        </p:spPr>
        <p:txBody>
          <a:bodyPr wrap="square" lIns="0" tIns="0" rIns="0" bIns="0" rtlCol="0" anchor="ctr"/>
          <a:lstStyle/>
          <a:p>
            <a:pPr indent="0" marL="0">
              <a:lnSpc>
                <a:spcPct val="130000"/>
              </a:lnSpc>
              <a:buNone/>
            </a:pPr>
            <a:r>
              <a:rPr lang="en-US" sz="1400" dirty="0">
                <a:solidFill>
                  <a:srgbClr val="2B2B2B"/>
                </a:solidFill>
                <a:latin typeface="Calibri" pitchFamily="34" charset="0"/>
                <a:ea typeface="Calibri" pitchFamily="34" charset="-122"/>
                <a:cs typeface="Calibri" pitchFamily="34" charset="-120"/>
              </a:rPr>
              <a:t>Project ini menganalisis kebiasaan belanja pelanggan Superstore Inc. untuk merancang strategi retensi dan akuisisi yang lebih tepat sasaran. Tiga temuan utama ditemukan: segmen Consumer sebagai kontributor penjualan terbesar, wilayah South yang tertinggal bukan karena kualitas pelanggan namun karena jumlah basis pelanggan, dan adanya 1,5% pelanggan yang hanya bertransaksi satu kali.</a:t>
            </a:r>
            <a:endParaRPr lang="en-US" sz="1400" dirty="0"/>
          </a:p>
        </p:txBody>
      </p:sp>
      <p:sp>
        <p:nvSpPr>
          <p:cNvPr id="14" name="Text 12"/>
          <p:cNvSpPr txBox="1"/>
          <p:nvPr/>
        </p:nvSpPr>
        <p:spPr>
          <a:xfrm>
            <a:off x="1005840" y="5074920"/>
            <a:ext cx="10149840" cy="822960"/>
          </a:xfrm>
          <a:prstGeom prst="rect">
            <a:avLst/>
          </a:prstGeom>
          <a:noFill/>
          <a:ln/>
        </p:spPr>
        <p:txBody>
          <a:bodyPr wrap="square" lIns="0" tIns="0" rIns="0" bIns="0" rtlCol="0" anchor="ctr"/>
          <a:lstStyle/>
          <a:p>
            <a:pPr indent="0" marL="0">
              <a:lnSpc>
                <a:spcPct val="130000"/>
              </a:lnSpc>
              <a:buNone/>
            </a:pPr>
            <a:r>
              <a:rPr lang="en-US" sz="1400" i="1" dirty="0">
                <a:solidFill>
                  <a:srgbClr val="0E7C7B"/>
                </a:solidFill>
                <a:latin typeface="Calibri" pitchFamily="34" charset="0"/>
                <a:ea typeface="Calibri" pitchFamily="34" charset="-122"/>
                <a:cs typeface="Calibri" pitchFamily="34" charset="-120"/>
              </a:rPr>
              <a:t>Rekomendasi strategis difokuskan pada akuisisi pelanggan baru di South dan peningkatan retensi, dengan potensi tambahan pendapatan sekitar Rp522 juta.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Business Problem</a:t>
            </a:r>
            <a:endParaRPr lang="en-US" sz="3000" dirty="0"/>
          </a:p>
        </p:txBody>
      </p:sp>
      <p:sp>
        <p:nvSpPr>
          <p:cNvPr id="3" name="Shape 1"/>
          <p:cNvSpPr/>
          <p:nvPr/>
        </p:nvSpPr>
        <p:spPr>
          <a:xfrm>
            <a:off x="0" y="1645920"/>
            <a:ext cx="4754880" cy="5212080"/>
          </a:xfrm>
          <a:prstGeom prst="rect">
            <a:avLst/>
          </a:prstGeom>
          <a:solidFill>
            <a:srgbClr val="0E7C7B"/>
          </a:solidFill>
          <a:ln/>
        </p:spPr>
      </p:sp>
      <p:sp>
        <p:nvSpPr>
          <p:cNvPr id="4" name="Text 2"/>
          <p:cNvSpPr txBox="1"/>
          <p:nvPr/>
        </p:nvSpPr>
        <p:spPr>
          <a:xfrm>
            <a:off x="0" y="3108960"/>
            <a:ext cx="4754880" cy="1828800"/>
          </a:xfrm>
          <a:prstGeom prst="rect">
            <a:avLst/>
          </a:prstGeom>
          <a:noFill/>
          <a:ln/>
        </p:spPr>
        <p:txBody>
          <a:bodyPr wrap="square" lIns="0" tIns="0" rIns="0" bIns="0" rtlCol="0" anchor="ctr"/>
          <a:lstStyle/>
          <a:p>
            <a:pPr algn="ctr" indent="0" marL="0">
              <a:buNone/>
            </a:pPr>
            <a:r>
              <a:rPr lang="en-US" sz="11000" b="1" dirty="0">
                <a:solidFill>
                  <a:srgbClr val="159C98"/>
                </a:solidFill>
                <a:latin typeface="Cambria" pitchFamily="34" charset="0"/>
                <a:ea typeface="Cambria" pitchFamily="34" charset="-122"/>
                <a:cs typeface="Cambria" pitchFamily="34" charset="-120"/>
              </a:rPr>
              <a:t>?</a:t>
            </a:r>
            <a:endParaRPr lang="en-US" sz="11000" dirty="0"/>
          </a:p>
        </p:txBody>
      </p:sp>
      <p:sp>
        <p:nvSpPr>
          <p:cNvPr id="5" name="Text 3"/>
          <p:cNvSpPr txBox="1"/>
          <p:nvPr/>
        </p:nvSpPr>
        <p:spPr>
          <a:xfrm>
            <a:off x="457200" y="5120640"/>
            <a:ext cx="3840480" cy="1188720"/>
          </a:xfrm>
          <a:prstGeom prst="rect">
            <a:avLst/>
          </a:prstGeom>
          <a:noFill/>
          <a:ln/>
        </p:spPr>
        <p:txBody>
          <a:bodyPr wrap="square" lIns="0" tIns="0" rIns="0" bIns="0" rtlCol="0" anchor="ctr"/>
          <a:lstStyle/>
          <a:p>
            <a:pPr algn="ctr" indent="0" marL="0">
              <a:lnSpc>
                <a:spcPct val="120000"/>
              </a:lnSpc>
              <a:buNone/>
            </a:pPr>
            <a:r>
              <a:rPr lang="en-US" sz="1600" b="1" dirty="0">
                <a:solidFill>
                  <a:srgbClr val="FFFFFF"/>
                </a:solidFill>
                <a:latin typeface="Calibri" pitchFamily="34" charset="0"/>
                <a:ea typeface="Calibri" pitchFamily="34" charset="-122"/>
                <a:cs typeface="Calibri" pitchFamily="34" charset="-120"/>
              </a:rPr>
              <a:t>Strategi pemasaran</a:t>
            </a:r>
            <a:endParaRPr lang="en-US" sz="1600" dirty="0"/>
          </a:p>
          <a:p>
            <a:pPr algn="ctr" indent="0" marL="0">
              <a:lnSpc>
                <a:spcPct val="120000"/>
              </a:lnSpc>
              <a:buNone/>
            </a:pPr>
            <a:r>
              <a:rPr lang="en-US" sz="1600" b="1" dirty="0">
                <a:solidFill>
                  <a:srgbClr val="FFFFFF"/>
                </a:solidFill>
                <a:latin typeface="Calibri" pitchFamily="34" charset="0"/>
                <a:ea typeface="Calibri" pitchFamily="34" charset="-122"/>
                <a:cs typeface="Calibri" pitchFamily="34" charset="-120"/>
              </a:rPr>
              <a:t>masih pukul rata</a:t>
            </a:r>
            <a:endParaRPr lang="en-US" sz="1600" dirty="0"/>
          </a:p>
        </p:txBody>
      </p:sp>
      <p:sp>
        <p:nvSpPr>
          <p:cNvPr id="6" name="Text 4"/>
          <p:cNvSpPr txBox="1"/>
          <p:nvPr/>
        </p:nvSpPr>
        <p:spPr>
          <a:xfrm>
            <a:off x="5212080" y="1920240"/>
            <a:ext cx="6309360" cy="822960"/>
          </a:xfrm>
          <a:prstGeom prst="rect">
            <a:avLst/>
          </a:prstGeom>
          <a:noFill/>
          <a:ln/>
        </p:spPr>
        <p:txBody>
          <a:bodyPr wrap="square" lIns="0" tIns="0" rIns="0" bIns="0" rtlCol="0" anchor="ctr"/>
          <a:lstStyle/>
          <a:p>
            <a:pPr indent="0" marL="0">
              <a:lnSpc>
                <a:spcPct val="130000"/>
              </a:lnSpc>
              <a:buNone/>
            </a:pPr>
            <a:r>
              <a:rPr lang="en-US" sz="1500" dirty="0">
                <a:solidFill>
                  <a:srgbClr val="2B2B2B"/>
                </a:solidFill>
                <a:latin typeface="Calibri" pitchFamily="34" charset="0"/>
                <a:ea typeface="Calibri" pitchFamily="34" charset="-122"/>
                <a:cs typeface="Calibri" pitchFamily="34" charset="-120"/>
              </a:rPr>
              <a:t>Superstore Inc. belum memiliki gambaran jelas mengenai kebiasaan belanja pelanggannya di tiap segmen:</a:t>
            </a:r>
            <a:endParaRPr lang="en-US" sz="1500" dirty="0"/>
          </a:p>
        </p:txBody>
      </p:sp>
      <p:sp>
        <p:nvSpPr>
          <p:cNvPr id="7" name="Shape 5"/>
          <p:cNvSpPr/>
          <p:nvPr/>
        </p:nvSpPr>
        <p:spPr>
          <a:xfrm>
            <a:off x="5212080" y="2834640"/>
            <a:ext cx="6309360" cy="594360"/>
          </a:xfrm>
          <a:prstGeom prst="roundRect">
            <a:avLst>
              <a:gd name="adj" fmla="val 9231"/>
            </a:avLst>
          </a:prstGeom>
          <a:solidFill>
            <a:srgbClr val="EFFAF7"/>
          </a:solidFill>
          <a:ln/>
        </p:spPr>
      </p:sp>
      <p:sp>
        <p:nvSpPr>
          <p:cNvPr id="8" name="Shape 6"/>
          <p:cNvSpPr/>
          <p:nvPr/>
        </p:nvSpPr>
        <p:spPr>
          <a:xfrm>
            <a:off x="5394960" y="2953512"/>
            <a:ext cx="365760" cy="365760"/>
          </a:xfrm>
          <a:prstGeom prst="ellipse">
            <a:avLst/>
          </a:prstGeom>
          <a:solidFill>
            <a:srgbClr val="FF6F59"/>
          </a:solidFill>
          <a:ln/>
        </p:spPr>
      </p:sp>
      <p:sp>
        <p:nvSpPr>
          <p:cNvPr id="9" name="Text 7"/>
          <p:cNvSpPr txBox="1"/>
          <p:nvPr/>
        </p:nvSpPr>
        <p:spPr>
          <a:xfrm>
            <a:off x="5943600" y="2834640"/>
            <a:ext cx="5394960" cy="5943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Consumer</a:t>
            </a:r>
            <a:endParaRPr lang="en-US" sz="1400" dirty="0"/>
          </a:p>
        </p:txBody>
      </p:sp>
      <p:sp>
        <p:nvSpPr>
          <p:cNvPr id="10" name="Shape 8"/>
          <p:cNvSpPr/>
          <p:nvPr/>
        </p:nvSpPr>
        <p:spPr>
          <a:xfrm>
            <a:off x="5212080" y="3611880"/>
            <a:ext cx="6309360" cy="594360"/>
          </a:xfrm>
          <a:prstGeom prst="roundRect">
            <a:avLst>
              <a:gd name="adj" fmla="val 9231"/>
            </a:avLst>
          </a:prstGeom>
          <a:solidFill>
            <a:srgbClr val="EFFAF7"/>
          </a:solidFill>
          <a:ln/>
        </p:spPr>
      </p:sp>
      <p:sp>
        <p:nvSpPr>
          <p:cNvPr id="11" name="Shape 9"/>
          <p:cNvSpPr/>
          <p:nvPr/>
        </p:nvSpPr>
        <p:spPr>
          <a:xfrm>
            <a:off x="5394960" y="3730752"/>
            <a:ext cx="365760" cy="365760"/>
          </a:xfrm>
          <a:prstGeom prst="ellipse">
            <a:avLst/>
          </a:prstGeom>
          <a:solidFill>
            <a:srgbClr val="FF6F59"/>
          </a:solidFill>
          <a:ln/>
        </p:spPr>
      </p:sp>
      <p:sp>
        <p:nvSpPr>
          <p:cNvPr id="12" name="Text 10"/>
          <p:cNvSpPr txBox="1"/>
          <p:nvPr/>
        </p:nvSpPr>
        <p:spPr>
          <a:xfrm>
            <a:off x="5943600" y="3611880"/>
            <a:ext cx="5394960" cy="5943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Corporate</a:t>
            </a:r>
            <a:endParaRPr lang="en-US" sz="1400" dirty="0"/>
          </a:p>
        </p:txBody>
      </p:sp>
      <p:sp>
        <p:nvSpPr>
          <p:cNvPr id="13" name="Shape 11"/>
          <p:cNvSpPr/>
          <p:nvPr/>
        </p:nvSpPr>
        <p:spPr>
          <a:xfrm>
            <a:off x="5212080" y="4389120"/>
            <a:ext cx="6309360" cy="594360"/>
          </a:xfrm>
          <a:prstGeom prst="roundRect">
            <a:avLst>
              <a:gd name="adj" fmla="val 9231"/>
            </a:avLst>
          </a:prstGeom>
          <a:solidFill>
            <a:srgbClr val="EFFAF7"/>
          </a:solidFill>
          <a:ln/>
        </p:spPr>
      </p:sp>
      <p:sp>
        <p:nvSpPr>
          <p:cNvPr id="14" name="Shape 12"/>
          <p:cNvSpPr/>
          <p:nvPr/>
        </p:nvSpPr>
        <p:spPr>
          <a:xfrm>
            <a:off x="5394960" y="4507992"/>
            <a:ext cx="365760" cy="365760"/>
          </a:xfrm>
          <a:prstGeom prst="ellipse">
            <a:avLst/>
          </a:prstGeom>
          <a:solidFill>
            <a:srgbClr val="FF6F59"/>
          </a:solidFill>
          <a:ln/>
        </p:spPr>
      </p:sp>
      <p:sp>
        <p:nvSpPr>
          <p:cNvPr id="15" name="Text 13"/>
          <p:cNvSpPr txBox="1"/>
          <p:nvPr/>
        </p:nvSpPr>
        <p:spPr>
          <a:xfrm>
            <a:off x="5943600" y="4389120"/>
            <a:ext cx="5394960" cy="5943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Home Office</a:t>
            </a:r>
            <a:endParaRPr lang="en-US" sz="1400" dirty="0"/>
          </a:p>
        </p:txBody>
      </p:sp>
      <p:sp>
        <p:nvSpPr>
          <p:cNvPr id="16" name="Text 14"/>
          <p:cNvSpPr txBox="1"/>
          <p:nvPr/>
        </p:nvSpPr>
        <p:spPr>
          <a:xfrm>
            <a:off x="5212080" y="5349240"/>
            <a:ext cx="6309360" cy="640080"/>
          </a:xfrm>
          <a:prstGeom prst="rect">
            <a:avLst/>
          </a:prstGeom>
          <a:noFill/>
          <a:ln/>
        </p:spPr>
        <p:txBody>
          <a:bodyPr wrap="square" lIns="0" tIns="0" rIns="0" bIns="0" rtlCol="0" anchor="ctr"/>
          <a:lstStyle/>
          <a:p>
            <a:pPr indent="0" marL="0">
              <a:lnSpc>
                <a:spcPct val="130000"/>
              </a:lnSpc>
              <a:buNone/>
            </a:pPr>
            <a:r>
              <a:rPr lang="en-US" sz="1400" i="1" dirty="0">
                <a:solidFill>
                  <a:srgbClr val="6E6E6E"/>
                </a:solidFill>
                <a:latin typeface="Calibri" pitchFamily="34" charset="0"/>
                <a:ea typeface="Calibri" pitchFamily="34" charset="-122"/>
                <a:cs typeface="Calibri" pitchFamily="34" charset="-120"/>
              </a:rPr>
              <a:t>Akibatnya, potensi tiap kelompok pelanggan belum tergarap secara optimal.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Business Objective</a:t>
            </a:r>
            <a:endParaRPr lang="en-US" sz="3000" dirty="0"/>
          </a:p>
        </p:txBody>
      </p:sp>
      <p:sp>
        <p:nvSpPr>
          <p:cNvPr id="3" name="Shape 1"/>
          <p:cNvSpPr/>
          <p:nvPr/>
        </p:nvSpPr>
        <p:spPr>
          <a:xfrm>
            <a:off x="640080" y="1920240"/>
            <a:ext cx="731520" cy="731520"/>
          </a:xfrm>
          <a:prstGeom prst="ellipse">
            <a:avLst/>
          </a:prstGeom>
          <a:solidFill>
            <a:srgbClr val="0E7C7B"/>
          </a:solidFill>
          <a:ln/>
        </p:spPr>
      </p:sp>
      <p:sp>
        <p:nvSpPr>
          <p:cNvPr id="4" name="Text 2"/>
          <p:cNvSpPr txBox="1"/>
          <p:nvPr/>
        </p:nvSpPr>
        <p:spPr>
          <a:xfrm>
            <a:off x="640080" y="1920240"/>
            <a:ext cx="731520" cy="731520"/>
          </a:xfrm>
          <a:prstGeom prst="rect">
            <a:avLst/>
          </a:prstGeom>
          <a:noFill/>
          <a:ln/>
        </p:spPr>
        <p:txBody>
          <a:bodyPr wrap="square" lIns="0" tIns="0" rIns="0" bIns="0" rtlCol="0" anchor="ctr"/>
          <a:lstStyle/>
          <a:p>
            <a:pPr algn="ctr" indent="0" marL="0">
              <a:buNone/>
            </a:pPr>
            <a:r>
              <a:rPr lang="en-US" sz="1760" b="1" dirty="0">
                <a:solidFill>
                  <a:srgbClr val="FFFFFF"/>
                </a:solidFill>
                <a:latin typeface="Calibri" pitchFamily="34" charset="0"/>
                <a:ea typeface="Calibri" pitchFamily="34" charset="-122"/>
                <a:cs typeface="Calibri" pitchFamily="34" charset="-120"/>
              </a:rPr>
              <a:t>1</a:t>
            </a:r>
            <a:endParaRPr lang="en-US" sz="1760" dirty="0"/>
          </a:p>
        </p:txBody>
      </p:sp>
      <p:sp>
        <p:nvSpPr>
          <p:cNvPr id="5" name="Text 3"/>
          <p:cNvSpPr txBox="1"/>
          <p:nvPr/>
        </p:nvSpPr>
        <p:spPr>
          <a:xfrm>
            <a:off x="1645920" y="1874520"/>
            <a:ext cx="9601200" cy="502920"/>
          </a:xfrm>
          <a:prstGeom prst="rect">
            <a:avLst/>
          </a:prstGeom>
          <a:noFill/>
          <a:ln/>
        </p:spPr>
        <p:txBody>
          <a:bodyPr wrap="square" lIns="0" tIns="0" rIns="0" bIns="0" rtlCol="0" anchor="ctr"/>
          <a:lstStyle/>
          <a:p>
            <a:pPr indent="0" marL="0">
              <a:buNone/>
            </a:pPr>
            <a:r>
              <a:rPr lang="en-US" sz="1800" b="1" dirty="0">
                <a:solidFill>
                  <a:srgbClr val="0E7C7B"/>
                </a:solidFill>
                <a:latin typeface="Calibri" pitchFamily="34" charset="0"/>
                <a:ea typeface="Calibri" pitchFamily="34" charset="-122"/>
                <a:cs typeface="Calibri" pitchFamily="34" charset="-120"/>
              </a:rPr>
              <a:t>Mengenali pola belanja pelanggan</a:t>
            </a:r>
            <a:endParaRPr lang="en-US" sz="1800" dirty="0"/>
          </a:p>
        </p:txBody>
      </p:sp>
      <p:sp>
        <p:nvSpPr>
          <p:cNvPr id="6" name="Text 4"/>
          <p:cNvSpPr txBox="1"/>
          <p:nvPr/>
        </p:nvSpPr>
        <p:spPr>
          <a:xfrm>
            <a:off x="1645920" y="2377440"/>
            <a:ext cx="9601200" cy="548640"/>
          </a:xfrm>
          <a:prstGeom prst="rect">
            <a:avLst/>
          </a:prstGeom>
          <a:noFill/>
          <a:ln/>
        </p:spPr>
        <p:txBody>
          <a:bodyPr wrap="square" lIns="0" tIns="0" rIns="0" bIns="0" rtlCol="0" anchor="ctr"/>
          <a:lstStyle/>
          <a:p>
            <a:pPr indent="0" marL="0">
              <a:buNone/>
            </a:pPr>
            <a:r>
              <a:rPr lang="en-US" sz="1350" dirty="0">
                <a:solidFill>
                  <a:srgbClr val="6E6E6E"/>
                </a:solidFill>
                <a:latin typeface="Calibri" pitchFamily="34" charset="0"/>
                <a:ea typeface="Calibri" pitchFamily="34" charset="-122"/>
                <a:cs typeface="Calibri" pitchFamily="34" charset="-120"/>
              </a:rPr>
              <a:t>Memahami kebiasaan transaksi tiap segmen dan wilayah</a:t>
            </a:r>
            <a:endParaRPr lang="en-US" sz="1350" dirty="0"/>
          </a:p>
        </p:txBody>
      </p:sp>
      <p:sp>
        <p:nvSpPr>
          <p:cNvPr id="7" name="Shape 5"/>
          <p:cNvSpPr/>
          <p:nvPr/>
        </p:nvSpPr>
        <p:spPr>
          <a:xfrm>
            <a:off x="640080" y="3337560"/>
            <a:ext cx="731520" cy="731520"/>
          </a:xfrm>
          <a:prstGeom prst="ellipse">
            <a:avLst/>
          </a:prstGeom>
          <a:solidFill>
            <a:srgbClr val="FF6F59"/>
          </a:solidFill>
          <a:ln/>
        </p:spPr>
      </p:sp>
      <p:sp>
        <p:nvSpPr>
          <p:cNvPr id="8" name="Text 6"/>
          <p:cNvSpPr txBox="1"/>
          <p:nvPr/>
        </p:nvSpPr>
        <p:spPr>
          <a:xfrm>
            <a:off x="640080" y="3337560"/>
            <a:ext cx="731520" cy="731520"/>
          </a:xfrm>
          <a:prstGeom prst="rect">
            <a:avLst/>
          </a:prstGeom>
          <a:noFill/>
          <a:ln/>
        </p:spPr>
        <p:txBody>
          <a:bodyPr wrap="square" lIns="0" tIns="0" rIns="0" bIns="0" rtlCol="0" anchor="ctr"/>
          <a:lstStyle/>
          <a:p>
            <a:pPr algn="ctr" indent="0" marL="0">
              <a:buNone/>
            </a:pPr>
            <a:r>
              <a:rPr lang="en-US" sz="1760" b="1" dirty="0">
                <a:solidFill>
                  <a:srgbClr val="FFFFFF"/>
                </a:solidFill>
                <a:latin typeface="Calibri" pitchFamily="34" charset="0"/>
                <a:ea typeface="Calibri" pitchFamily="34" charset="-122"/>
                <a:cs typeface="Calibri" pitchFamily="34" charset="-120"/>
              </a:rPr>
              <a:t>2</a:t>
            </a:r>
            <a:endParaRPr lang="en-US" sz="1760" dirty="0"/>
          </a:p>
        </p:txBody>
      </p:sp>
      <p:sp>
        <p:nvSpPr>
          <p:cNvPr id="9" name="Text 7"/>
          <p:cNvSpPr txBox="1"/>
          <p:nvPr/>
        </p:nvSpPr>
        <p:spPr>
          <a:xfrm>
            <a:off x="1645920" y="3291840"/>
            <a:ext cx="9601200" cy="502920"/>
          </a:xfrm>
          <a:prstGeom prst="rect">
            <a:avLst/>
          </a:prstGeom>
          <a:noFill/>
          <a:ln/>
        </p:spPr>
        <p:txBody>
          <a:bodyPr wrap="square" lIns="0" tIns="0" rIns="0" bIns="0" rtlCol="0" anchor="ctr"/>
          <a:lstStyle/>
          <a:p>
            <a:pPr indent="0" marL="0">
              <a:buNone/>
            </a:pPr>
            <a:r>
              <a:rPr lang="en-US" sz="1800" b="1" dirty="0">
                <a:solidFill>
                  <a:srgbClr val="0E7C7B"/>
                </a:solidFill>
                <a:latin typeface="Calibri" pitchFamily="34" charset="0"/>
                <a:ea typeface="Calibri" pitchFamily="34" charset="-122"/>
                <a:cs typeface="Calibri" pitchFamily="34" charset="-120"/>
              </a:rPr>
              <a:t>Mengelompokkan pelanggan</a:t>
            </a:r>
            <a:endParaRPr lang="en-US" sz="1800" dirty="0"/>
          </a:p>
        </p:txBody>
      </p:sp>
      <p:sp>
        <p:nvSpPr>
          <p:cNvPr id="10" name="Text 8"/>
          <p:cNvSpPr txBox="1"/>
          <p:nvPr/>
        </p:nvSpPr>
        <p:spPr>
          <a:xfrm>
            <a:off x="1645920" y="3794760"/>
            <a:ext cx="9601200" cy="548640"/>
          </a:xfrm>
          <a:prstGeom prst="rect">
            <a:avLst/>
          </a:prstGeom>
          <a:noFill/>
          <a:ln/>
        </p:spPr>
        <p:txBody>
          <a:bodyPr wrap="square" lIns="0" tIns="0" rIns="0" bIns="0" rtlCol="0" anchor="ctr"/>
          <a:lstStyle/>
          <a:p>
            <a:pPr indent="0" marL="0">
              <a:buNone/>
            </a:pPr>
            <a:r>
              <a:rPr lang="en-US" sz="1350" dirty="0">
                <a:solidFill>
                  <a:srgbClr val="6E6E6E"/>
                </a:solidFill>
                <a:latin typeface="Calibri" pitchFamily="34" charset="0"/>
                <a:ea typeface="Calibri" pitchFamily="34" charset="-122"/>
                <a:cs typeface="Calibri" pitchFamily="34" charset="-120"/>
              </a:rPr>
              <a:t>Berdasarkan nilai (value) dan keseringan belanja (frequency)</a:t>
            </a:r>
            <a:endParaRPr lang="en-US" sz="1350" dirty="0"/>
          </a:p>
        </p:txBody>
      </p:sp>
      <p:sp>
        <p:nvSpPr>
          <p:cNvPr id="11" name="Shape 9"/>
          <p:cNvSpPr/>
          <p:nvPr/>
        </p:nvSpPr>
        <p:spPr>
          <a:xfrm>
            <a:off x="640080" y="4754880"/>
            <a:ext cx="731520" cy="731520"/>
          </a:xfrm>
          <a:prstGeom prst="ellipse">
            <a:avLst/>
          </a:prstGeom>
          <a:solidFill>
            <a:srgbClr val="0E7C7B"/>
          </a:solidFill>
          <a:ln/>
        </p:spPr>
      </p:sp>
      <p:sp>
        <p:nvSpPr>
          <p:cNvPr id="12" name="Text 10"/>
          <p:cNvSpPr txBox="1"/>
          <p:nvPr/>
        </p:nvSpPr>
        <p:spPr>
          <a:xfrm>
            <a:off x="640080" y="4754880"/>
            <a:ext cx="731520" cy="731520"/>
          </a:xfrm>
          <a:prstGeom prst="rect">
            <a:avLst/>
          </a:prstGeom>
          <a:noFill/>
          <a:ln/>
        </p:spPr>
        <p:txBody>
          <a:bodyPr wrap="square" lIns="0" tIns="0" rIns="0" bIns="0" rtlCol="0" anchor="ctr"/>
          <a:lstStyle/>
          <a:p>
            <a:pPr algn="ctr" indent="0" marL="0">
              <a:buNone/>
            </a:pPr>
            <a:r>
              <a:rPr lang="en-US" sz="1760" b="1" dirty="0">
                <a:solidFill>
                  <a:srgbClr val="FFFFFF"/>
                </a:solidFill>
                <a:latin typeface="Calibri" pitchFamily="34" charset="0"/>
                <a:ea typeface="Calibri" pitchFamily="34" charset="-122"/>
                <a:cs typeface="Calibri" pitchFamily="34" charset="-120"/>
              </a:rPr>
              <a:t>3</a:t>
            </a:r>
            <a:endParaRPr lang="en-US" sz="1760" dirty="0"/>
          </a:p>
        </p:txBody>
      </p:sp>
      <p:sp>
        <p:nvSpPr>
          <p:cNvPr id="13" name="Text 11"/>
          <p:cNvSpPr txBox="1"/>
          <p:nvPr/>
        </p:nvSpPr>
        <p:spPr>
          <a:xfrm>
            <a:off x="1645920" y="4709160"/>
            <a:ext cx="9601200" cy="502920"/>
          </a:xfrm>
          <a:prstGeom prst="rect">
            <a:avLst/>
          </a:prstGeom>
          <a:noFill/>
          <a:ln/>
        </p:spPr>
        <p:txBody>
          <a:bodyPr wrap="square" lIns="0" tIns="0" rIns="0" bIns="0" rtlCol="0" anchor="ctr"/>
          <a:lstStyle/>
          <a:p>
            <a:pPr indent="0" marL="0">
              <a:buNone/>
            </a:pPr>
            <a:r>
              <a:rPr lang="en-US" sz="1800" b="1" dirty="0">
                <a:solidFill>
                  <a:srgbClr val="0E7C7B"/>
                </a:solidFill>
                <a:latin typeface="Calibri" pitchFamily="34" charset="0"/>
                <a:ea typeface="Calibri" pitchFamily="34" charset="-122"/>
                <a:cs typeface="Calibri" pitchFamily="34" charset="-120"/>
              </a:rPr>
              <a:t>Menyusun rekomendasi strategi</a:t>
            </a:r>
            <a:endParaRPr lang="en-US" sz="1800" dirty="0"/>
          </a:p>
        </p:txBody>
      </p:sp>
      <p:sp>
        <p:nvSpPr>
          <p:cNvPr id="14" name="Text 12"/>
          <p:cNvSpPr txBox="1"/>
          <p:nvPr/>
        </p:nvSpPr>
        <p:spPr>
          <a:xfrm>
            <a:off x="1645920" y="5212080"/>
            <a:ext cx="9601200" cy="548640"/>
          </a:xfrm>
          <a:prstGeom prst="rect">
            <a:avLst/>
          </a:prstGeom>
          <a:noFill/>
          <a:ln/>
        </p:spPr>
        <p:txBody>
          <a:bodyPr wrap="square" lIns="0" tIns="0" rIns="0" bIns="0" rtlCol="0" anchor="ctr"/>
          <a:lstStyle/>
          <a:p>
            <a:pPr indent="0" marL="0">
              <a:buNone/>
            </a:pPr>
            <a:r>
              <a:rPr lang="en-US" sz="1350" dirty="0">
                <a:solidFill>
                  <a:srgbClr val="6E6E6E"/>
                </a:solidFill>
                <a:latin typeface="Calibri" pitchFamily="34" charset="0"/>
                <a:ea typeface="Calibri" pitchFamily="34" charset="-122"/>
                <a:cs typeface="Calibri" pitchFamily="34" charset="-120"/>
              </a:rPr>
              <a:t>Untuk menjaga pelanggan lama dan menarik pelanggan baru</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Dataset</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Data transaksi retail Superstore Inc.</a:t>
            </a:r>
            <a:endParaRPr lang="en-US" sz="1250" dirty="0"/>
          </a:p>
        </p:txBody>
      </p:sp>
      <p:sp>
        <p:nvSpPr>
          <p:cNvPr id="4" name="Text 2"/>
          <p:cNvSpPr txBox="1"/>
          <p:nvPr/>
        </p:nvSpPr>
        <p:spPr>
          <a:xfrm>
            <a:off x="640080" y="2011680"/>
            <a:ext cx="2468880" cy="822960"/>
          </a:xfrm>
          <a:prstGeom prst="rect">
            <a:avLst/>
          </a:prstGeom>
          <a:noFill/>
          <a:ln/>
        </p:spPr>
        <p:txBody>
          <a:bodyPr wrap="square" lIns="0" tIns="0" rIns="0" bIns="0" rtlCol="0" anchor="ctr"/>
          <a:lstStyle/>
          <a:p>
            <a:pPr algn="l" indent="0" marL="0">
              <a:buNone/>
            </a:pPr>
            <a:r>
              <a:rPr lang="en-US" sz="3400" b="1" dirty="0">
                <a:solidFill>
                  <a:srgbClr val="0E7C7B"/>
                </a:solidFill>
                <a:latin typeface="Calibri" pitchFamily="34" charset="0"/>
                <a:ea typeface="Calibri" pitchFamily="34" charset="-122"/>
                <a:cs typeface="Calibri" pitchFamily="34" charset="-120"/>
              </a:rPr>
              <a:t>9.993</a:t>
            </a:r>
            <a:endParaRPr lang="en-US" sz="3400" dirty="0"/>
          </a:p>
        </p:txBody>
      </p:sp>
      <p:sp>
        <p:nvSpPr>
          <p:cNvPr id="5" name="Text 3"/>
          <p:cNvSpPr txBox="1"/>
          <p:nvPr/>
        </p:nvSpPr>
        <p:spPr>
          <a:xfrm>
            <a:off x="640080" y="276148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Baris Transaksi</a:t>
            </a:r>
            <a:endParaRPr lang="en-US" sz="1100" dirty="0"/>
          </a:p>
        </p:txBody>
      </p:sp>
      <p:sp>
        <p:nvSpPr>
          <p:cNvPr id="6" name="Text 4"/>
          <p:cNvSpPr txBox="1"/>
          <p:nvPr/>
        </p:nvSpPr>
        <p:spPr>
          <a:xfrm>
            <a:off x="3383280" y="2011680"/>
            <a:ext cx="2468880" cy="822960"/>
          </a:xfrm>
          <a:prstGeom prst="rect">
            <a:avLst/>
          </a:prstGeom>
          <a:noFill/>
          <a:ln/>
        </p:spPr>
        <p:txBody>
          <a:bodyPr wrap="square" lIns="0" tIns="0" rIns="0" bIns="0" rtlCol="0" anchor="ctr"/>
          <a:lstStyle/>
          <a:p>
            <a:pPr algn="l" indent="0" marL="0">
              <a:buNone/>
            </a:pPr>
            <a:r>
              <a:rPr lang="en-US" sz="3400" b="1" dirty="0">
                <a:solidFill>
                  <a:srgbClr val="0E7C7B"/>
                </a:solidFill>
                <a:latin typeface="Calibri" pitchFamily="34" charset="0"/>
                <a:ea typeface="Calibri" pitchFamily="34" charset="-122"/>
                <a:cs typeface="Calibri" pitchFamily="34" charset="-120"/>
              </a:rPr>
              <a:t>21</a:t>
            </a:r>
            <a:endParaRPr lang="en-US" sz="3400" dirty="0"/>
          </a:p>
        </p:txBody>
      </p:sp>
      <p:sp>
        <p:nvSpPr>
          <p:cNvPr id="7" name="Text 5"/>
          <p:cNvSpPr txBox="1"/>
          <p:nvPr/>
        </p:nvSpPr>
        <p:spPr>
          <a:xfrm>
            <a:off x="3383280" y="276148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Kolom Data</a:t>
            </a:r>
            <a:endParaRPr lang="en-US" sz="1100" dirty="0"/>
          </a:p>
        </p:txBody>
      </p:sp>
      <p:sp>
        <p:nvSpPr>
          <p:cNvPr id="8" name="Text 6"/>
          <p:cNvSpPr txBox="1"/>
          <p:nvPr/>
        </p:nvSpPr>
        <p:spPr>
          <a:xfrm>
            <a:off x="6126480" y="2011680"/>
            <a:ext cx="2468880" cy="822960"/>
          </a:xfrm>
          <a:prstGeom prst="rect">
            <a:avLst/>
          </a:prstGeom>
          <a:noFill/>
          <a:ln/>
        </p:spPr>
        <p:txBody>
          <a:bodyPr wrap="square" lIns="0" tIns="0" rIns="0" bIns="0" rtlCol="0" anchor="ctr"/>
          <a:lstStyle/>
          <a:p>
            <a:pPr algn="l" indent="0" marL="0">
              <a:buNone/>
            </a:pPr>
            <a:r>
              <a:rPr lang="en-US" sz="3400" b="1" dirty="0">
                <a:solidFill>
                  <a:srgbClr val="0E7C7B"/>
                </a:solidFill>
                <a:latin typeface="Calibri" pitchFamily="34" charset="0"/>
                <a:ea typeface="Calibri" pitchFamily="34" charset="-122"/>
                <a:cs typeface="Calibri" pitchFamily="34" charset="-120"/>
              </a:rPr>
              <a:t>2015-2018</a:t>
            </a:r>
            <a:endParaRPr lang="en-US" sz="3400" dirty="0"/>
          </a:p>
        </p:txBody>
      </p:sp>
      <p:sp>
        <p:nvSpPr>
          <p:cNvPr id="9" name="Text 7"/>
          <p:cNvSpPr txBox="1"/>
          <p:nvPr/>
        </p:nvSpPr>
        <p:spPr>
          <a:xfrm>
            <a:off x="6126480" y="276148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Periode</a:t>
            </a:r>
            <a:endParaRPr lang="en-US" sz="1100" dirty="0"/>
          </a:p>
        </p:txBody>
      </p:sp>
      <p:sp>
        <p:nvSpPr>
          <p:cNvPr id="10" name="Text 8"/>
          <p:cNvSpPr txBox="1"/>
          <p:nvPr/>
        </p:nvSpPr>
        <p:spPr>
          <a:xfrm>
            <a:off x="8869680" y="2011680"/>
            <a:ext cx="2468880" cy="822960"/>
          </a:xfrm>
          <a:prstGeom prst="rect">
            <a:avLst/>
          </a:prstGeom>
          <a:noFill/>
          <a:ln/>
        </p:spPr>
        <p:txBody>
          <a:bodyPr wrap="square" lIns="0" tIns="0" rIns="0" bIns="0" rtlCol="0" anchor="ctr"/>
          <a:lstStyle/>
          <a:p>
            <a:pPr algn="l" indent="0" marL="0">
              <a:buNone/>
            </a:pPr>
            <a:r>
              <a:rPr lang="en-US" sz="3400" b="1" dirty="0">
                <a:solidFill>
                  <a:srgbClr val="0E7C7B"/>
                </a:solidFill>
                <a:latin typeface="Calibri" pitchFamily="34" charset="0"/>
                <a:ea typeface="Calibri" pitchFamily="34" charset="-122"/>
                <a:cs typeface="Calibri" pitchFamily="34" charset="-120"/>
              </a:rPr>
              <a:t>4</a:t>
            </a:r>
            <a:endParaRPr lang="en-US" sz="3400" dirty="0"/>
          </a:p>
        </p:txBody>
      </p:sp>
      <p:sp>
        <p:nvSpPr>
          <p:cNvPr id="11" name="Text 9"/>
          <p:cNvSpPr txBox="1"/>
          <p:nvPr/>
        </p:nvSpPr>
        <p:spPr>
          <a:xfrm>
            <a:off x="8869680" y="2761488"/>
            <a:ext cx="246888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Wilayah</a:t>
            </a:r>
            <a:endParaRPr lang="en-US" sz="1100" dirty="0"/>
          </a:p>
        </p:txBody>
      </p:sp>
      <p:sp>
        <p:nvSpPr>
          <p:cNvPr id="12" name="Shape 10"/>
          <p:cNvSpPr/>
          <p:nvPr/>
        </p:nvSpPr>
        <p:spPr>
          <a:xfrm>
            <a:off x="640080" y="3657600"/>
            <a:ext cx="10881360" cy="2377440"/>
          </a:xfrm>
          <a:prstGeom prst="roundRect">
            <a:avLst>
              <a:gd name="adj" fmla="val 3077"/>
            </a:avLst>
          </a:prstGeom>
          <a:solidFill>
            <a:srgbClr val="EFFAF7"/>
          </a:solidFill>
          <a:ln/>
        </p:spPr>
      </p:sp>
      <p:sp>
        <p:nvSpPr>
          <p:cNvPr id="13" name="Text 11"/>
          <p:cNvSpPr txBox="1"/>
          <p:nvPr/>
        </p:nvSpPr>
        <p:spPr>
          <a:xfrm>
            <a:off x="1005840" y="3886200"/>
            <a:ext cx="10058400" cy="3657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Cakupan data meliputi:</a:t>
            </a:r>
            <a:endParaRPr lang="en-US" sz="1400" dirty="0"/>
          </a:p>
        </p:txBody>
      </p:sp>
      <p:sp>
        <p:nvSpPr>
          <p:cNvPr id="14" name="Text 12"/>
          <p:cNvSpPr txBox="1"/>
          <p:nvPr/>
        </p:nvSpPr>
        <p:spPr>
          <a:xfrm>
            <a:off x="1188720" y="4343400"/>
            <a:ext cx="9601200"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  Data pelanggan: Customer ID, Customer Name, Segment</a:t>
            </a:r>
            <a:endParaRPr lang="en-US" sz="1300" dirty="0"/>
          </a:p>
        </p:txBody>
      </p:sp>
      <p:sp>
        <p:nvSpPr>
          <p:cNvPr id="15" name="Text 13"/>
          <p:cNvSpPr txBox="1"/>
          <p:nvPr/>
        </p:nvSpPr>
        <p:spPr>
          <a:xfrm>
            <a:off x="1188720" y="4800600"/>
            <a:ext cx="9601200"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  Data transaksi: Order Date, Ship Date, Sales, Profit, Discount, Quantity</a:t>
            </a:r>
            <a:endParaRPr lang="en-US" sz="1300" dirty="0"/>
          </a:p>
        </p:txBody>
      </p:sp>
      <p:sp>
        <p:nvSpPr>
          <p:cNvPr id="16" name="Text 14"/>
          <p:cNvSpPr txBox="1"/>
          <p:nvPr/>
        </p:nvSpPr>
        <p:spPr>
          <a:xfrm>
            <a:off x="1188720" y="5257800"/>
            <a:ext cx="9601200"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  Data produk &amp; wilayah: Category, Sub-Category, Region, City, State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Methodology</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Empat tahap analisis dari data mentah hingga dashboard</a:t>
            </a:r>
            <a:endParaRPr lang="en-US" sz="1250" dirty="0"/>
          </a:p>
        </p:txBody>
      </p:sp>
      <p:sp>
        <p:nvSpPr>
          <p:cNvPr id="4" name="Shape 2"/>
          <p:cNvSpPr/>
          <p:nvPr/>
        </p:nvSpPr>
        <p:spPr>
          <a:xfrm>
            <a:off x="640080" y="2194560"/>
            <a:ext cx="2514600" cy="3108960"/>
          </a:xfrm>
          <a:prstGeom prst="roundRect">
            <a:avLst>
              <a:gd name="adj" fmla="val 2909"/>
            </a:avLst>
          </a:prstGeom>
          <a:solidFill>
            <a:srgbClr val="0E7C7B"/>
          </a:solidFill>
          <a:ln/>
        </p:spPr>
      </p:sp>
      <p:sp>
        <p:nvSpPr>
          <p:cNvPr id="5" name="Shape 3"/>
          <p:cNvSpPr/>
          <p:nvPr/>
        </p:nvSpPr>
        <p:spPr>
          <a:xfrm>
            <a:off x="822960" y="2423160"/>
            <a:ext cx="548640" cy="548640"/>
          </a:xfrm>
          <a:prstGeom prst="ellipse">
            <a:avLst/>
          </a:prstGeom>
          <a:solidFill>
            <a:srgbClr val="FF6F59"/>
          </a:solidFill>
          <a:ln/>
        </p:spPr>
      </p:sp>
      <p:sp>
        <p:nvSpPr>
          <p:cNvPr id="6" name="Text 4"/>
          <p:cNvSpPr txBox="1"/>
          <p:nvPr/>
        </p:nvSpPr>
        <p:spPr>
          <a:xfrm>
            <a:off x="822960" y="24231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7" name="Text 5"/>
          <p:cNvSpPr txBox="1"/>
          <p:nvPr/>
        </p:nvSpPr>
        <p:spPr>
          <a:xfrm>
            <a:off x="822960" y="3200400"/>
            <a:ext cx="2148840" cy="9144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Data Cleaning</a:t>
            </a:r>
            <a:endParaRPr lang="en-US" sz="1500" dirty="0"/>
          </a:p>
        </p:txBody>
      </p:sp>
      <p:sp>
        <p:nvSpPr>
          <p:cNvPr id="8" name="Text 6"/>
          <p:cNvSpPr txBox="1"/>
          <p:nvPr/>
        </p:nvSpPr>
        <p:spPr>
          <a:xfrm>
            <a:off x="822960" y="4114800"/>
            <a:ext cx="2148840" cy="1005840"/>
          </a:xfrm>
          <a:prstGeom prst="rect">
            <a:avLst/>
          </a:prstGeom>
          <a:noFill/>
          <a:ln/>
        </p:spPr>
        <p:txBody>
          <a:bodyPr wrap="square" lIns="0" tIns="0" rIns="0" bIns="0" rtlCol="0" anchor="ctr"/>
          <a:lstStyle/>
          <a:p>
            <a:pPr indent="0" marL="0">
              <a:lnSpc>
                <a:spcPct val="120000"/>
              </a:lnSpc>
              <a:buNone/>
            </a:pPr>
            <a:r>
              <a:rPr lang="en-US" sz="1100" dirty="0">
                <a:solidFill>
                  <a:srgbClr val="BDEDE3"/>
                </a:solidFill>
                <a:latin typeface="Calibri" pitchFamily="34" charset="0"/>
                <a:ea typeface="Calibri" pitchFamily="34" charset="-122"/>
                <a:cs typeface="Calibri" pitchFamily="34" charset="-120"/>
              </a:rPr>
              <a:t>OpenRefine &amp; Python (Pandas)</a:t>
            </a:r>
            <a:endParaRPr lang="en-US" sz="1100" dirty="0"/>
          </a:p>
        </p:txBody>
      </p:sp>
      <p:sp>
        <p:nvSpPr>
          <p:cNvPr id="9" name="Text 7"/>
          <p:cNvSpPr txBox="1"/>
          <p:nvPr/>
        </p:nvSpPr>
        <p:spPr>
          <a:xfrm>
            <a:off x="3108960" y="3383280"/>
            <a:ext cx="457200" cy="457200"/>
          </a:xfrm>
          <a:prstGeom prst="rect">
            <a:avLst/>
          </a:prstGeom>
          <a:noFill/>
          <a:ln/>
        </p:spPr>
        <p:txBody>
          <a:bodyPr wrap="square" lIns="0" tIns="0" rIns="0" bIns="0" rtlCol="0" anchor="ctr"/>
          <a:lstStyle/>
          <a:p>
            <a:pPr algn="ctr" indent="0" marL="0">
              <a:buNone/>
            </a:pPr>
            <a:r>
              <a:rPr lang="en-US" sz="2200" b="1" dirty="0">
                <a:solidFill>
                  <a:srgbClr val="FF6F59"/>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83280" y="2194560"/>
            <a:ext cx="2514600" cy="3108960"/>
          </a:xfrm>
          <a:prstGeom prst="roundRect">
            <a:avLst>
              <a:gd name="adj" fmla="val 2909"/>
            </a:avLst>
          </a:prstGeom>
          <a:solidFill>
            <a:srgbClr val="159C98"/>
          </a:solidFill>
          <a:ln/>
        </p:spPr>
      </p:sp>
      <p:sp>
        <p:nvSpPr>
          <p:cNvPr id="11" name="Shape 9"/>
          <p:cNvSpPr/>
          <p:nvPr/>
        </p:nvSpPr>
        <p:spPr>
          <a:xfrm>
            <a:off x="3566160" y="2423160"/>
            <a:ext cx="548640" cy="548640"/>
          </a:xfrm>
          <a:prstGeom prst="ellipse">
            <a:avLst/>
          </a:prstGeom>
          <a:solidFill>
            <a:srgbClr val="FF6F59"/>
          </a:solidFill>
          <a:ln/>
        </p:spPr>
      </p:sp>
      <p:sp>
        <p:nvSpPr>
          <p:cNvPr id="12" name="Text 10"/>
          <p:cNvSpPr txBox="1"/>
          <p:nvPr/>
        </p:nvSpPr>
        <p:spPr>
          <a:xfrm>
            <a:off x="3566160" y="24231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3" name="Text 11"/>
          <p:cNvSpPr txBox="1"/>
          <p:nvPr/>
        </p:nvSpPr>
        <p:spPr>
          <a:xfrm>
            <a:off x="3566160" y="3200400"/>
            <a:ext cx="2148840" cy="9144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Exploratory</a:t>
            </a:r>
            <a:endParaRPr lang="en-US" sz="1500" dirty="0"/>
          </a:p>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Data Analysis</a:t>
            </a:r>
            <a:endParaRPr lang="en-US" sz="1500" dirty="0"/>
          </a:p>
        </p:txBody>
      </p:sp>
      <p:sp>
        <p:nvSpPr>
          <p:cNvPr id="14" name="Text 12"/>
          <p:cNvSpPr txBox="1"/>
          <p:nvPr/>
        </p:nvSpPr>
        <p:spPr>
          <a:xfrm>
            <a:off x="3566160" y="4114800"/>
            <a:ext cx="2148840" cy="1005840"/>
          </a:xfrm>
          <a:prstGeom prst="rect">
            <a:avLst/>
          </a:prstGeom>
          <a:noFill/>
          <a:ln/>
        </p:spPr>
        <p:txBody>
          <a:bodyPr wrap="square" lIns="0" tIns="0" rIns="0" bIns="0" rtlCol="0" anchor="ctr"/>
          <a:lstStyle/>
          <a:p>
            <a:pPr indent="0" marL="0">
              <a:lnSpc>
                <a:spcPct val="120000"/>
              </a:lnSpc>
              <a:buNone/>
            </a:pPr>
            <a:r>
              <a:rPr lang="en-US" sz="1100" dirty="0">
                <a:solidFill>
                  <a:srgbClr val="BDEDE3"/>
                </a:solidFill>
                <a:latin typeface="Calibri" pitchFamily="34" charset="0"/>
                <a:ea typeface="Calibri" pitchFamily="34" charset="-122"/>
                <a:cs typeface="Calibri" pitchFamily="34" charset="-120"/>
              </a:rPr>
              <a:t>Univariate, bivariate, trend, segmentation</a:t>
            </a:r>
            <a:endParaRPr lang="en-US" sz="1100" dirty="0"/>
          </a:p>
        </p:txBody>
      </p:sp>
      <p:sp>
        <p:nvSpPr>
          <p:cNvPr id="15" name="Text 13"/>
          <p:cNvSpPr txBox="1"/>
          <p:nvPr/>
        </p:nvSpPr>
        <p:spPr>
          <a:xfrm>
            <a:off x="5852160" y="3383280"/>
            <a:ext cx="457200" cy="457200"/>
          </a:xfrm>
          <a:prstGeom prst="rect">
            <a:avLst/>
          </a:prstGeom>
          <a:noFill/>
          <a:ln/>
        </p:spPr>
        <p:txBody>
          <a:bodyPr wrap="square" lIns="0" tIns="0" rIns="0" bIns="0" rtlCol="0" anchor="ctr"/>
          <a:lstStyle/>
          <a:p>
            <a:pPr algn="ctr" indent="0" marL="0">
              <a:buNone/>
            </a:pPr>
            <a:r>
              <a:rPr lang="en-US" sz="2200" b="1" dirty="0">
                <a:solidFill>
                  <a:srgbClr val="FF6F59"/>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126480" y="2194560"/>
            <a:ext cx="2514600" cy="3108960"/>
          </a:xfrm>
          <a:prstGeom prst="roundRect">
            <a:avLst>
              <a:gd name="adj" fmla="val 2909"/>
            </a:avLst>
          </a:prstGeom>
          <a:solidFill>
            <a:srgbClr val="0E7C7B"/>
          </a:solidFill>
          <a:ln/>
        </p:spPr>
      </p:sp>
      <p:sp>
        <p:nvSpPr>
          <p:cNvPr id="17" name="Shape 15"/>
          <p:cNvSpPr/>
          <p:nvPr/>
        </p:nvSpPr>
        <p:spPr>
          <a:xfrm>
            <a:off x="6309360" y="2423160"/>
            <a:ext cx="548640" cy="548640"/>
          </a:xfrm>
          <a:prstGeom prst="ellipse">
            <a:avLst/>
          </a:prstGeom>
          <a:solidFill>
            <a:srgbClr val="FF6F59"/>
          </a:solidFill>
          <a:ln/>
        </p:spPr>
      </p:sp>
      <p:sp>
        <p:nvSpPr>
          <p:cNvPr id="18" name="Text 16"/>
          <p:cNvSpPr txBox="1"/>
          <p:nvPr/>
        </p:nvSpPr>
        <p:spPr>
          <a:xfrm>
            <a:off x="6309360" y="24231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9" name="Text 17"/>
          <p:cNvSpPr txBox="1"/>
          <p:nvPr/>
        </p:nvSpPr>
        <p:spPr>
          <a:xfrm>
            <a:off x="6309360" y="3200400"/>
            <a:ext cx="2148840" cy="9144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Business</a:t>
            </a:r>
            <a:endParaRPr lang="en-US" sz="1500" dirty="0"/>
          </a:p>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Analysis</a:t>
            </a:r>
            <a:endParaRPr lang="en-US" sz="1500" dirty="0"/>
          </a:p>
        </p:txBody>
      </p:sp>
      <p:sp>
        <p:nvSpPr>
          <p:cNvPr id="20" name="Text 18"/>
          <p:cNvSpPr txBox="1"/>
          <p:nvPr/>
        </p:nvSpPr>
        <p:spPr>
          <a:xfrm>
            <a:off x="6309360" y="4114800"/>
            <a:ext cx="2148840" cy="1005840"/>
          </a:xfrm>
          <a:prstGeom prst="rect">
            <a:avLst/>
          </a:prstGeom>
          <a:noFill/>
          <a:ln/>
        </p:spPr>
        <p:txBody>
          <a:bodyPr wrap="square" lIns="0" tIns="0" rIns="0" bIns="0" rtlCol="0" anchor="ctr"/>
          <a:lstStyle/>
          <a:p>
            <a:pPr indent="0" marL="0">
              <a:lnSpc>
                <a:spcPct val="120000"/>
              </a:lnSpc>
              <a:buNone/>
            </a:pPr>
            <a:r>
              <a:rPr lang="en-US" sz="1100" dirty="0">
                <a:solidFill>
                  <a:srgbClr val="BDEDE3"/>
                </a:solidFill>
                <a:latin typeface="Calibri" pitchFamily="34" charset="0"/>
                <a:ea typeface="Calibri" pitchFamily="34" charset="-122"/>
                <a:cs typeface="Calibri" pitchFamily="34" charset="-120"/>
              </a:rPr>
              <a:t>Root cause di level pelanggan individual</a:t>
            </a:r>
            <a:endParaRPr lang="en-US" sz="1100" dirty="0"/>
          </a:p>
        </p:txBody>
      </p:sp>
      <p:sp>
        <p:nvSpPr>
          <p:cNvPr id="21" name="Text 19"/>
          <p:cNvSpPr txBox="1"/>
          <p:nvPr/>
        </p:nvSpPr>
        <p:spPr>
          <a:xfrm>
            <a:off x="8595360" y="3383280"/>
            <a:ext cx="457200" cy="457200"/>
          </a:xfrm>
          <a:prstGeom prst="rect">
            <a:avLst/>
          </a:prstGeom>
          <a:noFill/>
          <a:ln/>
        </p:spPr>
        <p:txBody>
          <a:bodyPr wrap="square" lIns="0" tIns="0" rIns="0" bIns="0" rtlCol="0" anchor="ctr"/>
          <a:lstStyle/>
          <a:p>
            <a:pPr algn="ctr" indent="0" marL="0">
              <a:buNone/>
            </a:pPr>
            <a:r>
              <a:rPr lang="en-US" sz="2200" b="1" dirty="0">
                <a:solidFill>
                  <a:srgbClr val="FF6F59"/>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8869680" y="2194560"/>
            <a:ext cx="2514600" cy="3108960"/>
          </a:xfrm>
          <a:prstGeom prst="roundRect">
            <a:avLst>
              <a:gd name="adj" fmla="val 2909"/>
            </a:avLst>
          </a:prstGeom>
          <a:solidFill>
            <a:srgbClr val="159C98"/>
          </a:solidFill>
          <a:ln/>
        </p:spPr>
      </p:sp>
      <p:sp>
        <p:nvSpPr>
          <p:cNvPr id="23" name="Shape 21"/>
          <p:cNvSpPr/>
          <p:nvPr/>
        </p:nvSpPr>
        <p:spPr>
          <a:xfrm>
            <a:off x="9052560" y="2423160"/>
            <a:ext cx="548640" cy="548640"/>
          </a:xfrm>
          <a:prstGeom prst="ellipse">
            <a:avLst/>
          </a:prstGeom>
          <a:solidFill>
            <a:srgbClr val="FF6F59"/>
          </a:solidFill>
          <a:ln/>
        </p:spPr>
      </p:sp>
      <p:sp>
        <p:nvSpPr>
          <p:cNvPr id="24" name="Text 22"/>
          <p:cNvSpPr txBox="1"/>
          <p:nvPr/>
        </p:nvSpPr>
        <p:spPr>
          <a:xfrm>
            <a:off x="9052560" y="24231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5" name="Text 23"/>
          <p:cNvSpPr txBox="1"/>
          <p:nvPr/>
        </p:nvSpPr>
        <p:spPr>
          <a:xfrm>
            <a:off x="9052560" y="3200400"/>
            <a:ext cx="2148840" cy="9144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Dashboard</a:t>
            </a:r>
            <a:endParaRPr lang="en-US" sz="1500" dirty="0"/>
          </a:p>
        </p:txBody>
      </p:sp>
      <p:sp>
        <p:nvSpPr>
          <p:cNvPr id="26" name="Text 24"/>
          <p:cNvSpPr txBox="1"/>
          <p:nvPr/>
        </p:nvSpPr>
        <p:spPr>
          <a:xfrm>
            <a:off x="9052560" y="4114800"/>
            <a:ext cx="2148840" cy="1005840"/>
          </a:xfrm>
          <a:prstGeom prst="rect">
            <a:avLst/>
          </a:prstGeom>
          <a:noFill/>
          <a:ln/>
        </p:spPr>
        <p:txBody>
          <a:bodyPr wrap="square" lIns="0" tIns="0" rIns="0" bIns="0" rtlCol="0" anchor="ctr"/>
          <a:lstStyle/>
          <a:p>
            <a:pPr indent="0" marL="0">
              <a:lnSpc>
                <a:spcPct val="120000"/>
              </a:lnSpc>
              <a:buNone/>
            </a:pPr>
            <a:r>
              <a:rPr lang="en-US" sz="1100" dirty="0">
                <a:solidFill>
                  <a:srgbClr val="BDEDE3"/>
                </a:solidFill>
                <a:latin typeface="Calibri" pitchFamily="34" charset="0"/>
                <a:ea typeface="Calibri" pitchFamily="34" charset="-122"/>
                <a:cs typeface="Calibri" pitchFamily="34" charset="-120"/>
              </a:rPr>
              <a:t>Microsoft Excel dengan formula dinamis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Key Finding 1</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Segmen Consumer mendominasi penjualan</a:t>
            </a:r>
            <a:endParaRPr lang="en-US" sz="1250" dirty="0"/>
          </a:p>
        </p:txBody>
      </p:sp>
      <p:graphicFrame>
        <p:nvGraphicFramePr>
          <p:cNvPr id="4" name="Chart 0" descr=""/>
          <p:cNvGraphicFramePr/>
          <p:nvPr/>
        </p:nvGraphicFramePr>
        <p:xfrm>
          <a:off x="640080" y="182880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675120" y="2103120"/>
            <a:ext cx="4846320" cy="914400"/>
          </a:xfrm>
          <a:prstGeom prst="rect">
            <a:avLst/>
          </a:prstGeom>
          <a:noFill/>
          <a:ln/>
        </p:spPr>
        <p:txBody>
          <a:bodyPr wrap="square" lIns="0" tIns="0" rIns="0" bIns="0" rtlCol="0" anchor="ctr"/>
          <a:lstStyle/>
          <a:p>
            <a:pPr indent="0" marL="0">
              <a:lnSpc>
                <a:spcPct val="130000"/>
              </a:lnSpc>
              <a:buNone/>
            </a:pPr>
            <a:r>
              <a:rPr lang="en-US" sz="1500" b="1" dirty="0">
                <a:solidFill>
                  <a:srgbClr val="0E7C7B"/>
                </a:solidFill>
                <a:latin typeface="Calibri" pitchFamily="34" charset="0"/>
                <a:ea typeface="Calibri" pitchFamily="34" charset="-122"/>
                <a:cs typeface="Calibri" pitchFamily="34" charset="-120"/>
              </a:rPr>
              <a:t>Segmen Consumer menyumbang penjualan terbesar, hampir 2x lipat dari Corporate.</a:t>
            </a:r>
            <a:endParaRPr lang="en-US" sz="1500" dirty="0"/>
          </a:p>
        </p:txBody>
      </p:sp>
      <p:sp>
        <p:nvSpPr>
          <p:cNvPr id="6" name="Text 3"/>
          <p:cNvSpPr txBox="1"/>
          <p:nvPr/>
        </p:nvSpPr>
        <p:spPr>
          <a:xfrm>
            <a:off x="6675120" y="3108960"/>
            <a:ext cx="4846320" cy="1280160"/>
          </a:xfrm>
          <a:prstGeom prst="rect">
            <a:avLst/>
          </a:prstGeom>
          <a:noFill/>
          <a:ln/>
        </p:spPr>
        <p:txBody>
          <a:bodyPr wrap="square" lIns="0" tIns="0" rIns="0" bIns="0" rtlCol="0" anchor="ctr"/>
          <a:lstStyle/>
          <a:p>
            <a:pPr indent="0" marL="0">
              <a:lnSpc>
                <a:spcPct val="130000"/>
              </a:lnSpc>
              <a:buNone/>
            </a:pPr>
            <a:r>
              <a:rPr lang="en-US" sz="1300" dirty="0">
                <a:solidFill>
                  <a:srgbClr val="6E6E6E"/>
                </a:solidFill>
                <a:latin typeface="Calibri" pitchFamily="34" charset="0"/>
                <a:ea typeface="Calibri" pitchFamily="34" charset="-122"/>
                <a:cs typeface="Calibri" pitchFamily="34" charset="-120"/>
              </a:rPr>
              <a:t>Consumer juga mencatat jumlah transaksi terbanyak, menjadikannya segmen paling bernilai secara volume dan prioritas utama dalam strategi retensi.</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Key Finding 2</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Wilayah South: pelanggan sedikit, tapi bernilai tinggi</a:t>
            </a:r>
            <a:endParaRPr lang="en-US" sz="1250" dirty="0"/>
          </a:p>
        </p:txBody>
      </p:sp>
      <p:graphicFrame>
        <p:nvGraphicFramePr>
          <p:cNvPr id="4" name="Chart 0" descr=""/>
          <p:cNvGraphicFramePr/>
          <p:nvPr/>
        </p:nvGraphicFramePr>
        <p:xfrm>
          <a:off x="640080" y="182880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675120" y="2103120"/>
            <a:ext cx="4846320" cy="1371600"/>
          </a:xfrm>
          <a:prstGeom prst="rect">
            <a:avLst/>
          </a:prstGeom>
          <a:noFill/>
          <a:ln/>
        </p:spPr>
        <p:txBody>
          <a:bodyPr wrap="square" lIns="0" tIns="0" rIns="0" bIns="0" rtlCol="0" anchor="ctr"/>
          <a:lstStyle/>
          <a:p>
            <a:pPr indent="0" marL="0">
              <a:lnSpc>
                <a:spcPct val="130000"/>
              </a:lnSpc>
              <a:buNone/>
            </a:pPr>
            <a:r>
              <a:rPr lang="en-US" sz="1500" b="1" dirty="0">
                <a:solidFill>
                  <a:srgbClr val="0E7C7B"/>
                </a:solidFill>
                <a:latin typeface="Calibri" pitchFamily="34" charset="0"/>
                <a:ea typeface="Calibri" pitchFamily="34" charset="-122"/>
                <a:cs typeface="Calibri" pitchFamily="34" charset="-120"/>
              </a:rPr>
              <a:t>South punya pelanggan paling sedikit (512), tapi rata-rata belanja per pelanggan justru TERTINGGI dari semua wilayah.</a:t>
            </a:r>
            <a:endParaRPr lang="en-US" sz="1500" dirty="0"/>
          </a:p>
        </p:txBody>
      </p:sp>
      <p:sp>
        <p:nvSpPr>
          <p:cNvPr id="6" name="Shape 3"/>
          <p:cNvSpPr/>
          <p:nvPr/>
        </p:nvSpPr>
        <p:spPr>
          <a:xfrm>
            <a:off x="6675120" y="3657600"/>
            <a:ext cx="4846320" cy="1280160"/>
          </a:xfrm>
          <a:prstGeom prst="roundRect">
            <a:avLst>
              <a:gd name="adj" fmla="val 5714"/>
            </a:avLst>
          </a:prstGeom>
          <a:solidFill>
            <a:srgbClr val="EFFAF7"/>
          </a:solidFill>
          <a:ln/>
        </p:spPr>
      </p:sp>
      <p:sp>
        <p:nvSpPr>
          <p:cNvPr id="7" name="Text 4"/>
          <p:cNvSpPr txBox="1"/>
          <p:nvPr/>
        </p:nvSpPr>
        <p:spPr>
          <a:xfrm>
            <a:off x="6949440" y="3840480"/>
            <a:ext cx="4297680" cy="914400"/>
          </a:xfrm>
          <a:prstGeom prst="rect">
            <a:avLst/>
          </a:prstGeom>
          <a:noFill/>
          <a:ln/>
        </p:spPr>
        <p:txBody>
          <a:bodyPr wrap="square" lIns="0" tIns="0" rIns="0" bIns="0" rtlCol="0" anchor="ctr"/>
          <a:lstStyle/>
          <a:p>
            <a:pPr indent="0" marL="0">
              <a:lnSpc>
                <a:spcPct val="130000"/>
              </a:lnSpc>
              <a:buNone/>
            </a:pPr>
            <a:r>
              <a:rPr lang="en-US" sz="2000" b="1" dirty="0">
                <a:solidFill>
                  <a:srgbClr val="0E7C7B"/>
                </a:solidFill>
                <a:latin typeface="Calibri" pitchFamily="34" charset="0"/>
                <a:ea typeface="Calibri" pitchFamily="34" charset="-122"/>
                <a:cs typeface="Calibri" pitchFamily="34" charset="-120"/>
              </a:rPr>
              <a:t>Rp 3.000.238</a:t>
            </a:r>
            <a:pPr indent="0" marL="0">
              <a:lnSpc>
                <a:spcPct val="130000"/>
              </a:lnSpc>
              <a:buNone/>
            </a:pPr>
            <a:r>
              <a:rPr lang="en-US" sz="1200" dirty="0">
                <a:solidFill>
                  <a:srgbClr val="6E6E6E"/>
                </a:solidFill>
                <a:latin typeface="Calibri" pitchFamily="34" charset="0"/>
                <a:ea typeface="Calibri" pitchFamily="34" charset="-122"/>
                <a:cs typeface="Calibri" pitchFamily="34" charset="-120"/>
              </a:rPr>
              <a:t> rata-rata belanja per pelanggan South vs Rp 2.998.566 di West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Key Finding 3</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Sebagian pelanggan hanya belanja satu kali</a:t>
            </a:r>
            <a:endParaRPr lang="en-US" sz="1250" dirty="0"/>
          </a:p>
        </p:txBody>
      </p:sp>
      <p:sp>
        <p:nvSpPr>
          <p:cNvPr id="4" name="Text 2"/>
          <p:cNvSpPr txBox="1"/>
          <p:nvPr/>
        </p:nvSpPr>
        <p:spPr>
          <a:xfrm>
            <a:off x="640080" y="2011680"/>
            <a:ext cx="3200400" cy="822960"/>
          </a:xfrm>
          <a:prstGeom prst="rect">
            <a:avLst/>
          </a:prstGeom>
          <a:noFill/>
          <a:ln/>
        </p:spPr>
        <p:txBody>
          <a:bodyPr wrap="square" lIns="0" tIns="0" rIns="0" bIns="0" rtlCol="0" anchor="ctr"/>
          <a:lstStyle/>
          <a:p>
            <a:pPr algn="l" indent="0" marL="0">
              <a:buNone/>
            </a:pPr>
            <a:r>
              <a:rPr lang="en-US" sz="5600" b="1" dirty="0">
                <a:solidFill>
                  <a:srgbClr val="FF6F59"/>
                </a:solidFill>
                <a:latin typeface="Calibri" pitchFamily="34" charset="0"/>
                <a:ea typeface="Calibri" pitchFamily="34" charset="-122"/>
                <a:cs typeface="Calibri" pitchFamily="34" charset="-120"/>
              </a:rPr>
              <a:t>1,5%</a:t>
            </a:r>
            <a:endParaRPr lang="en-US" sz="5600" dirty="0"/>
          </a:p>
        </p:txBody>
      </p:sp>
      <p:sp>
        <p:nvSpPr>
          <p:cNvPr id="5" name="Text 3"/>
          <p:cNvSpPr txBox="1"/>
          <p:nvPr/>
        </p:nvSpPr>
        <p:spPr>
          <a:xfrm>
            <a:off x="640080" y="2761488"/>
            <a:ext cx="3200400" cy="502920"/>
          </a:xfrm>
          <a:prstGeom prst="rect">
            <a:avLst/>
          </a:prstGeom>
          <a:noFill/>
          <a:ln/>
        </p:spPr>
        <p:txBody>
          <a:bodyPr wrap="square" lIns="0" tIns="0" rIns="0" bIns="0" rtlCol="0" anchor="ctr"/>
          <a:lstStyle/>
          <a:p>
            <a:pPr algn="l" indent="0" marL="0">
              <a:buNone/>
            </a:pPr>
            <a:r>
              <a:rPr lang="en-US" sz="1100" dirty="0">
                <a:solidFill>
                  <a:srgbClr val="6E6E6E"/>
                </a:solidFill>
                <a:latin typeface="Calibri" pitchFamily="34" charset="0"/>
                <a:ea typeface="Calibri" pitchFamily="34" charset="-122"/>
                <a:cs typeface="Calibri" pitchFamily="34" charset="-120"/>
              </a:rPr>
              <a:t>dari total 793 pelanggan</a:t>
            </a:r>
            <a:endParaRPr lang="en-US" sz="1100" dirty="0"/>
          </a:p>
          <a:p>
            <a:pPr algn="l" indent="0" marL="0">
              <a:buNone/>
            </a:pPr>
            <a:r>
              <a:rPr lang="en-US" sz="1100" dirty="0">
                <a:solidFill>
                  <a:srgbClr val="6E6E6E"/>
                </a:solidFill>
                <a:latin typeface="Calibri" pitchFamily="34" charset="0"/>
                <a:ea typeface="Calibri" pitchFamily="34" charset="-122"/>
                <a:cs typeface="Calibri" pitchFamily="34" charset="-120"/>
              </a:rPr>
              <a:t>hanya bertransaksi 1 kali</a:t>
            </a:r>
            <a:endParaRPr lang="en-US" sz="1100" dirty="0"/>
          </a:p>
        </p:txBody>
      </p:sp>
      <p:sp>
        <p:nvSpPr>
          <p:cNvPr id="6" name="Text 4"/>
          <p:cNvSpPr txBox="1"/>
          <p:nvPr/>
        </p:nvSpPr>
        <p:spPr>
          <a:xfrm>
            <a:off x="4572000" y="1965960"/>
            <a:ext cx="6400800" cy="36576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Proporsi one-time buyer tertinggi:</a:t>
            </a:r>
            <a:endParaRPr lang="en-US" sz="1300" dirty="0"/>
          </a:p>
        </p:txBody>
      </p:sp>
      <p:sp>
        <p:nvSpPr>
          <p:cNvPr id="7" name="Shape 5"/>
          <p:cNvSpPr/>
          <p:nvPr/>
        </p:nvSpPr>
        <p:spPr>
          <a:xfrm>
            <a:off x="4572000" y="2423160"/>
            <a:ext cx="6400800" cy="594360"/>
          </a:xfrm>
          <a:prstGeom prst="roundRect">
            <a:avLst>
              <a:gd name="adj" fmla="val 9231"/>
            </a:avLst>
          </a:prstGeom>
          <a:solidFill>
            <a:srgbClr val="EFFAF7"/>
          </a:solidFill>
          <a:ln w="9525">
            <a:solidFill>
              <a:srgbClr val="E5E5E5"/>
            </a:solidFill>
            <a:prstDash val="solid"/>
          </a:ln>
        </p:spPr>
      </p:sp>
      <p:sp>
        <p:nvSpPr>
          <p:cNvPr id="8" name="Text 6"/>
          <p:cNvSpPr txBox="1"/>
          <p:nvPr/>
        </p:nvSpPr>
        <p:spPr>
          <a:xfrm>
            <a:off x="4846320" y="2423160"/>
            <a:ext cx="3200400" cy="59436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South</a:t>
            </a:r>
            <a:endParaRPr lang="en-US" sz="1300" dirty="0"/>
          </a:p>
        </p:txBody>
      </p:sp>
      <p:sp>
        <p:nvSpPr>
          <p:cNvPr id="9" name="Text 7"/>
          <p:cNvSpPr txBox="1"/>
          <p:nvPr/>
        </p:nvSpPr>
        <p:spPr>
          <a:xfrm>
            <a:off x="8686800" y="2423160"/>
            <a:ext cx="2011680" cy="594360"/>
          </a:xfrm>
          <a:prstGeom prst="rect">
            <a:avLst/>
          </a:prstGeom>
          <a:noFill/>
          <a:ln/>
        </p:spPr>
        <p:txBody>
          <a:bodyPr wrap="square" lIns="0" tIns="0" rIns="0" bIns="0" rtlCol="0" anchor="ctr"/>
          <a:lstStyle/>
          <a:p>
            <a:pPr algn="r" indent="0" marL="0">
              <a:buNone/>
            </a:pPr>
            <a:r>
              <a:rPr lang="en-US" sz="1500" b="1" dirty="0">
                <a:solidFill>
                  <a:srgbClr val="0E7C7B"/>
                </a:solidFill>
                <a:latin typeface="Calibri" pitchFamily="34" charset="0"/>
                <a:ea typeface="Calibri" pitchFamily="34" charset="-122"/>
                <a:cs typeface="Calibri" pitchFamily="34" charset="-120"/>
              </a:rPr>
              <a:t>2,99%</a:t>
            </a:r>
            <a:endParaRPr lang="en-US" sz="1500" dirty="0"/>
          </a:p>
        </p:txBody>
      </p:sp>
      <p:sp>
        <p:nvSpPr>
          <p:cNvPr id="10" name="Shape 8"/>
          <p:cNvSpPr/>
          <p:nvPr/>
        </p:nvSpPr>
        <p:spPr>
          <a:xfrm>
            <a:off x="4572000" y="3200400"/>
            <a:ext cx="6400800" cy="594360"/>
          </a:xfrm>
          <a:prstGeom prst="roundRect">
            <a:avLst>
              <a:gd name="adj" fmla="val 9231"/>
            </a:avLst>
          </a:prstGeom>
          <a:solidFill>
            <a:srgbClr val="EFFAF7"/>
          </a:solidFill>
          <a:ln w="9525">
            <a:solidFill>
              <a:srgbClr val="E5E5E5"/>
            </a:solidFill>
            <a:prstDash val="solid"/>
          </a:ln>
        </p:spPr>
      </p:sp>
      <p:sp>
        <p:nvSpPr>
          <p:cNvPr id="11" name="Text 9"/>
          <p:cNvSpPr txBox="1"/>
          <p:nvPr/>
        </p:nvSpPr>
        <p:spPr>
          <a:xfrm>
            <a:off x="4846320" y="3200400"/>
            <a:ext cx="3200400" cy="59436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East</a:t>
            </a:r>
            <a:endParaRPr lang="en-US" sz="1300" dirty="0"/>
          </a:p>
        </p:txBody>
      </p:sp>
      <p:sp>
        <p:nvSpPr>
          <p:cNvPr id="12" name="Text 10"/>
          <p:cNvSpPr txBox="1"/>
          <p:nvPr/>
        </p:nvSpPr>
        <p:spPr>
          <a:xfrm>
            <a:off x="8686800" y="3200400"/>
            <a:ext cx="2011680" cy="594360"/>
          </a:xfrm>
          <a:prstGeom prst="rect">
            <a:avLst/>
          </a:prstGeom>
          <a:noFill/>
          <a:ln/>
        </p:spPr>
        <p:txBody>
          <a:bodyPr wrap="square" lIns="0" tIns="0" rIns="0" bIns="0" rtlCol="0" anchor="ctr"/>
          <a:lstStyle/>
          <a:p>
            <a:pPr algn="r" indent="0" marL="0">
              <a:buNone/>
            </a:pPr>
            <a:r>
              <a:rPr lang="en-US" sz="1500" b="1" dirty="0">
                <a:solidFill>
                  <a:srgbClr val="0E7C7B"/>
                </a:solidFill>
                <a:latin typeface="Calibri" pitchFamily="34" charset="0"/>
                <a:ea typeface="Calibri" pitchFamily="34" charset="-122"/>
                <a:cs typeface="Calibri" pitchFamily="34" charset="-120"/>
              </a:rPr>
              <a:t>2,27%</a:t>
            </a:r>
            <a:endParaRPr lang="en-US" sz="1500" dirty="0"/>
          </a:p>
        </p:txBody>
      </p:sp>
      <p:sp>
        <p:nvSpPr>
          <p:cNvPr id="13" name="Shape 11"/>
          <p:cNvSpPr/>
          <p:nvPr/>
        </p:nvSpPr>
        <p:spPr>
          <a:xfrm>
            <a:off x="4572000" y="3977640"/>
            <a:ext cx="6400800" cy="594360"/>
          </a:xfrm>
          <a:prstGeom prst="roundRect">
            <a:avLst>
              <a:gd name="adj" fmla="val 9231"/>
            </a:avLst>
          </a:prstGeom>
          <a:solidFill>
            <a:srgbClr val="FFFFFF"/>
          </a:solidFill>
          <a:ln w="9525">
            <a:solidFill>
              <a:srgbClr val="E5E5E5"/>
            </a:solidFill>
            <a:prstDash val="solid"/>
          </a:ln>
        </p:spPr>
      </p:sp>
      <p:sp>
        <p:nvSpPr>
          <p:cNvPr id="14" name="Text 12"/>
          <p:cNvSpPr txBox="1"/>
          <p:nvPr/>
        </p:nvSpPr>
        <p:spPr>
          <a:xfrm>
            <a:off x="4846320" y="3977640"/>
            <a:ext cx="3200400" cy="59436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Corporate*</a:t>
            </a:r>
            <a:endParaRPr lang="en-US" sz="1300" dirty="0"/>
          </a:p>
        </p:txBody>
      </p:sp>
      <p:sp>
        <p:nvSpPr>
          <p:cNvPr id="15" name="Text 13"/>
          <p:cNvSpPr txBox="1"/>
          <p:nvPr/>
        </p:nvSpPr>
        <p:spPr>
          <a:xfrm>
            <a:off x="8686800" y="3977640"/>
            <a:ext cx="2011680" cy="594360"/>
          </a:xfrm>
          <a:prstGeom prst="rect">
            <a:avLst/>
          </a:prstGeom>
          <a:noFill/>
          <a:ln/>
        </p:spPr>
        <p:txBody>
          <a:bodyPr wrap="square" lIns="0" tIns="0" rIns="0" bIns="0" rtlCol="0" anchor="ctr"/>
          <a:lstStyle/>
          <a:p>
            <a:pPr algn="r" indent="0" marL="0">
              <a:buNone/>
            </a:pPr>
            <a:r>
              <a:rPr lang="en-US" sz="1500" b="1" dirty="0">
                <a:solidFill>
                  <a:srgbClr val="0E7C7B"/>
                </a:solidFill>
                <a:latin typeface="Calibri" pitchFamily="34" charset="0"/>
                <a:ea typeface="Calibri" pitchFamily="34" charset="-122"/>
                <a:cs typeface="Calibri" pitchFamily="34" charset="-120"/>
              </a:rPr>
              <a:t>2,12%</a:t>
            </a:r>
            <a:endParaRPr lang="en-US" sz="1500" dirty="0"/>
          </a:p>
        </p:txBody>
      </p:sp>
      <p:sp>
        <p:nvSpPr>
          <p:cNvPr id="16" name="Shape 14"/>
          <p:cNvSpPr/>
          <p:nvPr/>
        </p:nvSpPr>
        <p:spPr>
          <a:xfrm>
            <a:off x="4572000" y="4754880"/>
            <a:ext cx="6400800" cy="594360"/>
          </a:xfrm>
          <a:prstGeom prst="roundRect">
            <a:avLst>
              <a:gd name="adj" fmla="val 9231"/>
            </a:avLst>
          </a:prstGeom>
          <a:solidFill>
            <a:srgbClr val="FFFFFF"/>
          </a:solidFill>
          <a:ln w="9525">
            <a:solidFill>
              <a:srgbClr val="E5E5E5"/>
            </a:solidFill>
            <a:prstDash val="solid"/>
          </a:ln>
        </p:spPr>
      </p:sp>
      <p:sp>
        <p:nvSpPr>
          <p:cNvPr id="17" name="Text 15"/>
          <p:cNvSpPr txBox="1"/>
          <p:nvPr/>
        </p:nvSpPr>
        <p:spPr>
          <a:xfrm>
            <a:off x="4846320" y="4754880"/>
            <a:ext cx="3200400" cy="59436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Central</a:t>
            </a:r>
            <a:endParaRPr lang="en-US" sz="1300" dirty="0"/>
          </a:p>
        </p:txBody>
      </p:sp>
      <p:sp>
        <p:nvSpPr>
          <p:cNvPr id="18" name="Text 16"/>
          <p:cNvSpPr txBox="1"/>
          <p:nvPr/>
        </p:nvSpPr>
        <p:spPr>
          <a:xfrm>
            <a:off x="8686800" y="4754880"/>
            <a:ext cx="2011680" cy="594360"/>
          </a:xfrm>
          <a:prstGeom prst="rect">
            <a:avLst/>
          </a:prstGeom>
          <a:noFill/>
          <a:ln/>
        </p:spPr>
        <p:txBody>
          <a:bodyPr wrap="square" lIns="0" tIns="0" rIns="0" bIns="0" rtlCol="0" anchor="ctr"/>
          <a:lstStyle/>
          <a:p>
            <a:pPr algn="r" indent="0" marL="0">
              <a:buNone/>
            </a:pPr>
            <a:r>
              <a:rPr lang="en-US" sz="1500" b="1" dirty="0">
                <a:solidFill>
                  <a:srgbClr val="0E7C7B"/>
                </a:solidFill>
                <a:latin typeface="Calibri" pitchFamily="34" charset="0"/>
                <a:ea typeface="Calibri" pitchFamily="34" charset="-122"/>
                <a:cs typeface="Calibri" pitchFamily="34" charset="-120"/>
              </a:rPr>
              <a:t>0,54%</a:t>
            </a:r>
            <a:endParaRPr lang="en-US" sz="1500" dirty="0"/>
          </a:p>
        </p:txBody>
      </p:sp>
      <p:sp>
        <p:nvSpPr>
          <p:cNvPr id="19" name="Text 17"/>
          <p:cNvSpPr txBox="1"/>
          <p:nvPr/>
        </p:nvSpPr>
        <p:spPr>
          <a:xfrm>
            <a:off x="4572000" y="5532120"/>
            <a:ext cx="6400800" cy="320040"/>
          </a:xfrm>
          <a:prstGeom prst="rect">
            <a:avLst/>
          </a:prstGeom>
          <a:noFill/>
          <a:ln/>
        </p:spPr>
        <p:txBody>
          <a:bodyPr wrap="square" lIns="0" tIns="0" rIns="0" bIns="0"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*berdasarkan segmen pelanggan, bukan wilayah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Root Cause</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Perbandingan South vs West pada level pelanggan individual</a:t>
            </a:r>
            <a:endParaRPr lang="en-US" sz="1250" dirty="0"/>
          </a:p>
        </p:txBody>
      </p:sp>
      <p:sp>
        <p:nvSpPr>
          <p:cNvPr id="4" name="Shape 2"/>
          <p:cNvSpPr/>
          <p:nvPr/>
        </p:nvSpPr>
        <p:spPr>
          <a:xfrm>
            <a:off x="640080" y="1828800"/>
            <a:ext cx="5120640" cy="4297680"/>
          </a:xfrm>
          <a:prstGeom prst="roundRect">
            <a:avLst>
              <a:gd name="adj" fmla="val 1702"/>
            </a:avLst>
          </a:prstGeom>
          <a:solidFill>
            <a:srgbClr val="EFFAF7"/>
          </a:solidFill>
          <a:ln/>
        </p:spPr>
      </p:sp>
      <p:sp>
        <p:nvSpPr>
          <p:cNvPr id="5" name="Shape 3"/>
          <p:cNvSpPr/>
          <p:nvPr/>
        </p:nvSpPr>
        <p:spPr>
          <a:xfrm>
            <a:off x="640080" y="1828800"/>
            <a:ext cx="5120640" cy="640080"/>
          </a:xfrm>
          <a:prstGeom prst="rect">
            <a:avLst/>
          </a:prstGeom>
          <a:solidFill>
            <a:srgbClr val="0E7C7B"/>
          </a:solidFill>
          <a:ln/>
        </p:spPr>
      </p:sp>
      <p:sp>
        <p:nvSpPr>
          <p:cNvPr id="6" name="Text 4"/>
          <p:cNvSpPr txBox="1"/>
          <p:nvPr/>
        </p:nvSpPr>
        <p:spPr>
          <a:xfrm>
            <a:off x="640080" y="1828800"/>
            <a:ext cx="51206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South</a:t>
            </a:r>
            <a:endParaRPr lang="en-US" sz="1800" dirty="0"/>
          </a:p>
        </p:txBody>
      </p:sp>
      <p:sp>
        <p:nvSpPr>
          <p:cNvPr id="7" name="Text 5"/>
          <p:cNvSpPr txBox="1"/>
          <p:nvPr/>
        </p:nvSpPr>
        <p:spPr>
          <a:xfrm>
            <a:off x="914400" y="2697480"/>
            <a:ext cx="4572000" cy="502920"/>
          </a:xfrm>
          <a:prstGeom prst="rect">
            <a:avLst/>
          </a:prstGeom>
          <a:noFill/>
          <a:ln/>
        </p:spPr>
        <p:txBody>
          <a:bodyPr wrap="square" lIns="0" tIns="0" rIns="0" bIns="0" rtlCol="0" anchor="ctr"/>
          <a:lstStyle/>
          <a:p>
            <a:pPr indent="0" marL="0">
              <a:buNone/>
            </a:pPr>
            <a:r>
              <a:rPr lang="en-US" sz="2200" b="1" dirty="0">
                <a:solidFill>
                  <a:srgbClr val="0E7C7B"/>
                </a:solidFill>
                <a:latin typeface="Calibri" pitchFamily="34" charset="0"/>
                <a:ea typeface="Calibri" pitchFamily="34" charset="-122"/>
                <a:cs typeface="Calibri" pitchFamily="34" charset="-120"/>
              </a:rPr>
              <a:t>512</a:t>
            </a:r>
            <a:endParaRPr lang="en-US" sz="2200" dirty="0"/>
          </a:p>
        </p:txBody>
      </p:sp>
      <p:sp>
        <p:nvSpPr>
          <p:cNvPr id="8" name="Text 6"/>
          <p:cNvSpPr txBox="1"/>
          <p:nvPr/>
        </p:nvSpPr>
        <p:spPr>
          <a:xfrm>
            <a:off x="914400" y="3154680"/>
            <a:ext cx="4572000" cy="365760"/>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Jumlah Pelanggan</a:t>
            </a:r>
            <a:endParaRPr lang="en-US" sz="1150" dirty="0"/>
          </a:p>
        </p:txBody>
      </p:sp>
      <p:sp>
        <p:nvSpPr>
          <p:cNvPr id="9" name="Text 7"/>
          <p:cNvSpPr txBox="1"/>
          <p:nvPr/>
        </p:nvSpPr>
        <p:spPr>
          <a:xfrm>
            <a:off x="914400" y="3794760"/>
            <a:ext cx="4572000" cy="502920"/>
          </a:xfrm>
          <a:prstGeom prst="rect">
            <a:avLst/>
          </a:prstGeom>
          <a:noFill/>
          <a:ln/>
        </p:spPr>
        <p:txBody>
          <a:bodyPr wrap="square" lIns="0" tIns="0" rIns="0" bIns="0" rtlCol="0" anchor="ctr"/>
          <a:lstStyle/>
          <a:p>
            <a:pPr indent="0" marL="0">
              <a:buNone/>
            </a:pPr>
            <a:r>
              <a:rPr lang="en-US" sz="2200" b="1" dirty="0">
                <a:solidFill>
                  <a:srgbClr val="0E7C7B"/>
                </a:solidFill>
                <a:latin typeface="Calibri" pitchFamily="34" charset="0"/>
                <a:ea typeface="Calibri" pitchFamily="34" charset="-122"/>
                <a:cs typeface="Calibri" pitchFamily="34" charset="-120"/>
              </a:rPr>
              <a:t>Rp 3.000.238</a:t>
            </a:r>
            <a:endParaRPr lang="en-US" sz="2200" dirty="0"/>
          </a:p>
        </p:txBody>
      </p:sp>
      <p:sp>
        <p:nvSpPr>
          <p:cNvPr id="10" name="Text 8"/>
          <p:cNvSpPr txBox="1"/>
          <p:nvPr/>
        </p:nvSpPr>
        <p:spPr>
          <a:xfrm>
            <a:off x="914400" y="4251960"/>
            <a:ext cx="4572000" cy="365760"/>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Rata-rata Belanja/Pelanggan</a:t>
            </a:r>
            <a:endParaRPr lang="en-US" sz="1150" dirty="0"/>
          </a:p>
        </p:txBody>
      </p:sp>
      <p:sp>
        <p:nvSpPr>
          <p:cNvPr id="11" name="Text 9"/>
          <p:cNvSpPr txBox="1"/>
          <p:nvPr/>
        </p:nvSpPr>
        <p:spPr>
          <a:xfrm>
            <a:off x="914400" y="4892040"/>
            <a:ext cx="4572000" cy="502920"/>
          </a:xfrm>
          <a:prstGeom prst="rect">
            <a:avLst/>
          </a:prstGeom>
          <a:noFill/>
          <a:ln/>
        </p:spPr>
        <p:txBody>
          <a:bodyPr wrap="square" lIns="0" tIns="0" rIns="0" bIns="0" rtlCol="0" anchor="ctr"/>
          <a:lstStyle/>
          <a:p>
            <a:pPr indent="0" marL="0">
              <a:buNone/>
            </a:pPr>
            <a:r>
              <a:rPr lang="en-US" sz="2200" b="1" dirty="0">
                <a:solidFill>
                  <a:srgbClr val="0E7C7B"/>
                </a:solidFill>
                <a:latin typeface="Calibri" pitchFamily="34" charset="0"/>
                <a:ea typeface="Calibri" pitchFamily="34" charset="-122"/>
                <a:cs typeface="Calibri" pitchFamily="34" charset="-120"/>
              </a:rPr>
              <a:t>6,2x</a:t>
            </a:r>
            <a:endParaRPr lang="en-US" sz="2200" dirty="0"/>
          </a:p>
        </p:txBody>
      </p:sp>
      <p:sp>
        <p:nvSpPr>
          <p:cNvPr id="12" name="Text 10"/>
          <p:cNvSpPr txBox="1"/>
          <p:nvPr/>
        </p:nvSpPr>
        <p:spPr>
          <a:xfrm>
            <a:off x="914400" y="5349240"/>
            <a:ext cx="4572000" cy="365760"/>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Rata-rata Frekuensi Order</a:t>
            </a:r>
            <a:endParaRPr lang="en-US" sz="1150" dirty="0"/>
          </a:p>
        </p:txBody>
      </p:sp>
      <p:sp>
        <p:nvSpPr>
          <p:cNvPr id="13" name="Shape 11"/>
          <p:cNvSpPr/>
          <p:nvPr/>
        </p:nvSpPr>
        <p:spPr>
          <a:xfrm>
            <a:off x="6400800" y="1828800"/>
            <a:ext cx="5120640" cy="4297680"/>
          </a:xfrm>
          <a:prstGeom prst="roundRect">
            <a:avLst>
              <a:gd name="adj" fmla="val 1702"/>
            </a:avLst>
          </a:prstGeom>
          <a:solidFill>
            <a:srgbClr val="EFFAF7"/>
          </a:solidFill>
          <a:ln/>
        </p:spPr>
      </p:sp>
      <p:sp>
        <p:nvSpPr>
          <p:cNvPr id="14" name="Shape 12"/>
          <p:cNvSpPr/>
          <p:nvPr/>
        </p:nvSpPr>
        <p:spPr>
          <a:xfrm>
            <a:off x="6400800" y="1828800"/>
            <a:ext cx="5120640" cy="640080"/>
          </a:xfrm>
          <a:prstGeom prst="rect">
            <a:avLst/>
          </a:prstGeom>
          <a:solidFill>
            <a:srgbClr val="159C98"/>
          </a:solidFill>
          <a:ln/>
        </p:spPr>
      </p:sp>
      <p:sp>
        <p:nvSpPr>
          <p:cNvPr id="15" name="Text 13"/>
          <p:cNvSpPr txBox="1"/>
          <p:nvPr/>
        </p:nvSpPr>
        <p:spPr>
          <a:xfrm>
            <a:off x="6400800" y="1828800"/>
            <a:ext cx="51206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West</a:t>
            </a:r>
            <a:endParaRPr lang="en-US" sz="1800" dirty="0"/>
          </a:p>
        </p:txBody>
      </p:sp>
      <p:sp>
        <p:nvSpPr>
          <p:cNvPr id="16" name="Text 14"/>
          <p:cNvSpPr txBox="1"/>
          <p:nvPr/>
        </p:nvSpPr>
        <p:spPr>
          <a:xfrm>
            <a:off x="6675120" y="2697480"/>
            <a:ext cx="4572000" cy="502920"/>
          </a:xfrm>
          <a:prstGeom prst="rect">
            <a:avLst/>
          </a:prstGeom>
          <a:noFill/>
          <a:ln/>
        </p:spPr>
        <p:txBody>
          <a:bodyPr wrap="square" lIns="0" tIns="0" rIns="0" bIns="0" rtlCol="0" anchor="ctr"/>
          <a:lstStyle/>
          <a:p>
            <a:pPr indent="0" marL="0">
              <a:buNone/>
            </a:pPr>
            <a:r>
              <a:rPr lang="en-US" sz="2200" b="1" dirty="0">
                <a:solidFill>
                  <a:srgbClr val="159C98"/>
                </a:solidFill>
                <a:latin typeface="Calibri" pitchFamily="34" charset="0"/>
                <a:ea typeface="Calibri" pitchFamily="34" charset="-122"/>
                <a:cs typeface="Calibri" pitchFamily="34" charset="-120"/>
              </a:rPr>
              <a:t>686</a:t>
            </a:r>
            <a:endParaRPr lang="en-US" sz="2200" dirty="0"/>
          </a:p>
        </p:txBody>
      </p:sp>
      <p:sp>
        <p:nvSpPr>
          <p:cNvPr id="17" name="Text 15"/>
          <p:cNvSpPr txBox="1"/>
          <p:nvPr/>
        </p:nvSpPr>
        <p:spPr>
          <a:xfrm>
            <a:off x="6675120" y="3154680"/>
            <a:ext cx="4572000" cy="365760"/>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Jumlah Pelanggan</a:t>
            </a:r>
            <a:endParaRPr lang="en-US" sz="1150" dirty="0"/>
          </a:p>
        </p:txBody>
      </p:sp>
      <p:sp>
        <p:nvSpPr>
          <p:cNvPr id="18" name="Text 16"/>
          <p:cNvSpPr txBox="1"/>
          <p:nvPr/>
        </p:nvSpPr>
        <p:spPr>
          <a:xfrm>
            <a:off x="6675120" y="3794760"/>
            <a:ext cx="4572000" cy="502920"/>
          </a:xfrm>
          <a:prstGeom prst="rect">
            <a:avLst/>
          </a:prstGeom>
          <a:noFill/>
          <a:ln/>
        </p:spPr>
        <p:txBody>
          <a:bodyPr wrap="square" lIns="0" tIns="0" rIns="0" bIns="0" rtlCol="0" anchor="ctr"/>
          <a:lstStyle/>
          <a:p>
            <a:pPr indent="0" marL="0">
              <a:buNone/>
            </a:pPr>
            <a:r>
              <a:rPr lang="en-US" sz="2200" b="1" dirty="0">
                <a:solidFill>
                  <a:srgbClr val="159C98"/>
                </a:solidFill>
                <a:latin typeface="Calibri" pitchFamily="34" charset="0"/>
                <a:ea typeface="Calibri" pitchFamily="34" charset="-122"/>
                <a:cs typeface="Calibri" pitchFamily="34" charset="-120"/>
              </a:rPr>
              <a:t>Rp 2.998.566</a:t>
            </a:r>
            <a:endParaRPr lang="en-US" sz="2200" dirty="0"/>
          </a:p>
        </p:txBody>
      </p:sp>
      <p:sp>
        <p:nvSpPr>
          <p:cNvPr id="19" name="Text 17"/>
          <p:cNvSpPr txBox="1"/>
          <p:nvPr/>
        </p:nvSpPr>
        <p:spPr>
          <a:xfrm>
            <a:off x="6675120" y="4251960"/>
            <a:ext cx="4572000" cy="365760"/>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Rata-rata Belanja/Pelanggan</a:t>
            </a:r>
            <a:endParaRPr lang="en-US" sz="1150" dirty="0"/>
          </a:p>
        </p:txBody>
      </p:sp>
      <p:sp>
        <p:nvSpPr>
          <p:cNvPr id="20" name="Text 18"/>
          <p:cNvSpPr txBox="1"/>
          <p:nvPr/>
        </p:nvSpPr>
        <p:spPr>
          <a:xfrm>
            <a:off x="6675120" y="4892040"/>
            <a:ext cx="4572000" cy="502920"/>
          </a:xfrm>
          <a:prstGeom prst="rect">
            <a:avLst/>
          </a:prstGeom>
          <a:noFill/>
          <a:ln/>
        </p:spPr>
        <p:txBody>
          <a:bodyPr wrap="square" lIns="0" tIns="0" rIns="0" bIns="0" rtlCol="0" anchor="ctr"/>
          <a:lstStyle/>
          <a:p>
            <a:pPr indent="0" marL="0">
              <a:buNone/>
            </a:pPr>
            <a:r>
              <a:rPr lang="en-US" sz="2200" b="1" dirty="0">
                <a:solidFill>
                  <a:srgbClr val="159C98"/>
                </a:solidFill>
                <a:latin typeface="Calibri" pitchFamily="34" charset="0"/>
                <a:ea typeface="Calibri" pitchFamily="34" charset="-122"/>
                <a:cs typeface="Calibri" pitchFamily="34" charset="-120"/>
              </a:rPr>
              <a:t>6,3x</a:t>
            </a:r>
            <a:endParaRPr lang="en-US" sz="2200" dirty="0"/>
          </a:p>
        </p:txBody>
      </p:sp>
      <p:sp>
        <p:nvSpPr>
          <p:cNvPr id="21" name="Text 19"/>
          <p:cNvSpPr txBox="1"/>
          <p:nvPr/>
        </p:nvSpPr>
        <p:spPr>
          <a:xfrm>
            <a:off x="6675120" y="5349240"/>
            <a:ext cx="4572000" cy="365760"/>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Rata-rata Frekuensi Order</a:t>
            </a:r>
            <a:endParaRPr lang="en-US" sz="1150" dirty="0"/>
          </a:p>
        </p:txBody>
      </p:sp>
      <p:sp>
        <p:nvSpPr>
          <p:cNvPr id="22" name="Text 20"/>
          <p:cNvSpPr txBox="1"/>
          <p:nvPr/>
        </p:nvSpPr>
        <p:spPr>
          <a:xfrm>
            <a:off x="640080" y="6263640"/>
            <a:ext cx="10881360" cy="457200"/>
          </a:xfrm>
          <a:prstGeom prst="rect">
            <a:avLst/>
          </a:prstGeom>
          <a:noFill/>
          <a:ln/>
        </p:spPr>
        <p:txBody>
          <a:bodyPr wrap="square" lIns="0" tIns="0" rIns="0" bIns="0" rtlCol="0" anchor="ctr"/>
          <a:lstStyle/>
          <a:p>
            <a:pPr indent="0" marL="0">
              <a:buNone/>
            </a:pPr>
            <a:r>
              <a:rPr lang="en-US" sz="1300" b="1" i="1" dirty="0">
                <a:solidFill>
                  <a:srgbClr val="FF6F59"/>
                </a:solidFill>
                <a:latin typeface="Calibri" pitchFamily="34" charset="0"/>
                <a:ea typeface="Calibri" pitchFamily="34" charset="-122"/>
                <a:cs typeface="Calibri" pitchFamily="34" charset="-120"/>
              </a:rPr>
              <a:t>Kesimpulan: masalahnya ada di JUMLAH pelanggan, bukan di kualitas belanja pelanggan South.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8961120" y="4389120"/>
            <a:ext cx="4572000" cy="4572000"/>
          </a:xfrm>
          <a:prstGeom prst="ellipse">
            <a:avLst/>
          </a:prstGeom>
          <a:solidFill>
            <a:srgbClr val="14938F"/>
          </a:solidFill>
          <a:ln/>
        </p:spPr>
      </p:sp>
      <p:sp>
        <p:nvSpPr>
          <p:cNvPr id="3" name="Text 1"/>
          <p:cNvSpPr txBox="1"/>
          <p:nvPr/>
        </p:nvSpPr>
        <p:spPr>
          <a:xfrm>
            <a:off x="640080" y="548640"/>
            <a:ext cx="108813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Business Impact</a:t>
            </a:r>
            <a:endParaRPr lang="en-US" sz="3200" dirty="0"/>
          </a:p>
        </p:txBody>
      </p:sp>
      <p:sp>
        <p:nvSpPr>
          <p:cNvPr id="4" name="Text 2"/>
          <p:cNvSpPr txBox="1"/>
          <p:nvPr/>
        </p:nvSpPr>
        <p:spPr>
          <a:xfrm>
            <a:off x="640080" y="2103120"/>
            <a:ext cx="8229600" cy="822960"/>
          </a:xfrm>
          <a:prstGeom prst="rect">
            <a:avLst/>
          </a:prstGeom>
          <a:noFill/>
          <a:ln/>
        </p:spPr>
        <p:txBody>
          <a:bodyPr wrap="square" lIns="0" tIns="0" rIns="0" bIns="0" rtlCol="0" anchor="ctr"/>
          <a:lstStyle/>
          <a:p>
            <a:pPr indent="0" marL="0">
              <a:lnSpc>
                <a:spcPct val="130000"/>
              </a:lnSpc>
              <a:buNone/>
            </a:pPr>
            <a:r>
              <a:rPr lang="en-US" sz="1600" dirty="0">
                <a:solidFill>
                  <a:srgbClr val="BDEDE3"/>
                </a:solidFill>
                <a:latin typeface="Calibri" pitchFamily="34" charset="0"/>
                <a:ea typeface="Calibri" pitchFamily="34" charset="-122"/>
                <a:cs typeface="Calibri" pitchFamily="34" charset="-120"/>
              </a:rPr>
              <a:t>Kesenjangan 174 pelanggan antara South dan West setara dengan potensi kehilangan pendapatan sebesar</a:t>
            </a:r>
            <a:endParaRPr lang="en-US" sz="1600" dirty="0"/>
          </a:p>
        </p:txBody>
      </p:sp>
      <p:sp>
        <p:nvSpPr>
          <p:cNvPr id="5" name="Text 3"/>
          <p:cNvSpPr txBox="1"/>
          <p:nvPr/>
        </p:nvSpPr>
        <p:spPr>
          <a:xfrm>
            <a:off x="640080" y="3017520"/>
            <a:ext cx="8229600" cy="1463040"/>
          </a:xfrm>
          <a:prstGeom prst="rect">
            <a:avLst/>
          </a:prstGeom>
          <a:noFill/>
          <a:ln/>
        </p:spPr>
        <p:txBody>
          <a:bodyPr wrap="square" lIns="0" tIns="0" rIns="0" bIns="0" rtlCol="0" anchor="ctr"/>
          <a:lstStyle/>
          <a:p>
            <a:pPr indent="0" marL="0">
              <a:buNone/>
            </a:pPr>
            <a:r>
              <a:rPr lang="en-US" sz="6400" b="1" dirty="0">
                <a:solidFill>
                  <a:srgbClr val="FF6F59"/>
                </a:solidFill>
                <a:latin typeface="Cambria" pitchFamily="34" charset="0"/>
                <a:ea typeface="Cambria" pitchFamily="34" charset="-122"/>
                <a:cs typeface="Cambria" pitchFamily="34" charset="-120"/>
              </a:rPr>
              <a:t>Rp 522 Juta</a:t>
            </a:r>
            <a:endParaRPr lang="en-US" sz="6400" dirty="0"/>
          </a:p>
        </p:txBody>
      </p:sp>
      <p:sp>
        <p:nvSpPr>
          <p:cNvPr id="6" name="Text 4"/>
          <p:cNvSpPr txBox="1"/>
          <p:nvPr/>
        </p:nvSpPr>
        <p:spPr>
          <a:xfrm>
            <a:off x="640080" y="4526280"/>
            <a:ext cx="8229600" cy="822960"/>
          </a:xfrm>
          <a:prstGeom prst="rect">
            <a:avLst/>
          </a:prstGeom>
          <a:noFill/>
          <a:ln/>
        </p:spPr>
        <p:txBody>
          <a:bodyPr wrap="square" lIns="0" tIns="0" rIns="0" bIns="0" rtlCol="0" anchor="ctr"/>
          <a:lstStyle/>
          <a:p>
            <a:pPr indent="0" marL="0">
              <a:lnSpc>
                <a:spcPct val="130000"/>
              </a:lnSpc>
              <a:buNone/>
            </a:pPr>
            <a:r>
              <a:rPr lang="en-US" sz="1400" i="1" dirty="0">
                <a:solidFill>
                  <a:srgbClr val="FFFFFF"/>
                </a:solidFill>
                <a:latin typeface="Calibri" pitchFamily="34" charset="0"/>
                <a:ea typeface="Calibri" pitchFamily="34" charset="-122"/>
                <a:cs typeface="Calibri" pitchFamily="34" charset="-120"/>
              </a:rPr>
              <a:t>per periode analisis (2015-2018), yang belum tergarap karena rendahnya basis pelanggan di wilayah South.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Recommendation</a:t>
            </a:r>
            <a:endParaRPr lang="en-US" sz="3000" dirty="0"/>
          </a:p>
        </p:txBody>
      </p:sp>
      <p:sp>
        <p:nvSpPr>
          <p:cNvPr id="3" name="Shape 1"/>
          <p:cNvSpPr/>
          <p:nvPr/>
        </p:nvSpPr>
        <p:spPr>
          <a:xfrm>
            <a:off x="640080" y="1828800"/>
            <a:ext cx="5303520" cy="2103120"/>
          </a:xfrm>
          <a:prstGeom prst="roundRect">
            <a:avLst>
              <a:gd name="adj" fmla="val 3478"/>
            </a:avLst>
          </a:prstGeom>
          <a:solidFill>
            <a:srgbClr val="EFFAF7"/>
          </a:solidFill>
          <a:ln/>
        </p:spPr>
      </p:sp>
      <p:sp>
        <p:nvSpPr>
          <p:cNvPr id="4" name="Shape 2"/>
          <p:cNvSpPr/>
          <p:nvPr/>
        </p:nvSpPr>
        <p:spPr>
          <a:xfrm>
            <a:off x="914400" y="2103120"/>
            <a:ext cx="548640" cy="548640"/>
          </a:xfrm>
          <a:prstGeom prst="ellipse">
            <a:avLst/>
          </a:prstGeom>
          <a:solidFill>
            <a:srgbClr val="0E7C7B"/>
          </a:solidFill>
          <a:ln/>
        </p:spPr>
      </p:sp>
      <p:sp>
        <p:nvSpPr>
          <p:cNvPr id="5" name="Text 3"/>
          <p:cNvSpPr txBox="1"/>
          <p:nvPr/>
        </p:nvSpPr>
        <p:spPr>
          <a:xfrm>
            <a:off x="914400" y="210312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6" name="Text 4"/>
          <p:cNvSpPr txBox="1"/>
          <p:nvPr/>
        </p:nvSpPr>
        <p:spPr>
          <a:xfrm>
            <a:off x="1645920" y="2084832"/>
            <a:ext cx="4023360" cy="594360"/>
          </a:xfrm>
          <a:prstGeom prst="rect">
            <a:avLst/>
          </a:prstGeom>
          <a:noFill/>
          <a:ln/>
        </p:spPr>
        <p:txBody>
          <a:bodyPr wrap="square" lIns="0" tIns="0" rIns="0" bIns="0" rtlCol="0" anchor="ctr"/>
          <a:lstStyle/>
          <a:p>
            <a:pPr indent="0" marL="0">
              <a:lnSpc>
                <a:spcPct val="110000"/>
              </a:lnSpc>
              <a:buNone/>
            </a:pPr>
            <a:r>
              <a:rPr lang="en-US" sz="1450" b="1" dirty="0">
                <a:solidFill>
                  <a:srgbClr val="0E7C7B"/>
                </a:solidFill>
                <a:latin typeface="Calibri" pitchFamily="34" charset="0"/>
                <a:ea typeface="Calibri" pitchFamily="34" charset="-122"/>
                <a:cs typeface="Calibri" pitchFamily="34" charset="-120"/>
              </a:rPr>
              <a:t>Akuisisi Pelanggan Baru di South</a:t>
            </a:r>
            <a:endParaRPr lang="en-US" sz="1450" dirty="0"/>
          </a:p>
        </p:txBody>
      </p:sp>
      <p:sp>
        <p:nvSpPr>
          <p:cNvPr id="7" name="Text 5"/>
          <p:cNvSpPr txBox="1"/>
          <p:nvPr/>
        </p:nvSpPr>
        <p:spPr>
          <a:xfrm>
            <a:off x="914400" y="2788920"/>
            <a:ext cx="4754880" cy="1005840"/>
          </a:xfrm>
          <a:prstGeom prst="rect">
            <a:avLst/>
          </a:prstGeom>
          <a:noFill/>
          <a:ln/>
        </p:spPr>
        <p:txBody>
          <a:bodyPr wrap="square" lIns="0" tIns="0" rIns="0" bIns="0" rtlCol="0" anchor="ctr"/>
          <a:lstStyle/>
          <a:p>
            <a:pPr indent="0" marL="0">
              <a:lnSpc>
                <a:spcPct val="125000"/>
              </a:lnSpc>
              <a:buNone/>
            </a:pPr>
            <a:r>
              <a:rPr lang="en-US" sz="1150" dirty="0">
                <a:solidFill>
                  <a:srgbClr val="6E6E6E"/>
                </a:solidFill>
                <a:latin typeface="Calibri" pitchFamily="34" charset="0"/>
                <a:ea typeface="Calibri" pitchFamily="34" charset="-122"/>
                <a:cs typeface="Calibri" pitchFamily="34" charset="-120"/>
              </a:rPr>
              <a:t>Kampanye pemasaran lokal &amp; kerja sama mitra distribusi</a:t>
            </a:r>
            <a:endParaRPr lang="en-US" sz="1150" dirty="0"/>
          </a:p>
        </p:txBody>
      </p:sp>
      <p:sp>
        <p:nvSpPr>
          <p:cNvPr id="8" name="Shape 6"/>
          <p:cNvSpPr/>
          <p:nvPr/>
        </p:nvSpPr>
        <p:spPr>
          <a:xfrm>
            <a:off x="6217920" y="1828800"/>
            <a:ext cx="5303520" cy="2103120"/>
          </a:xfrm>
          <a:prstGeom prst="roundRect">
            <a:avLst>
              <a:gd name="adj" fmla="val 3478"/>
            </a:avLst>
          </a:prstGeom>
          <a:solidFill>
            <a:srgbClr val="EFFAF7"/>
          </a:solidFill>
          <a:ln/>
        </p:spPr>
      </p:sp>
      <p:sp>
        <p:nvSpPr>
          <p:cNvPr id="9" name="Shape 7"/>
          <p:cNvSpPr/>
          <p:nvPr/>
        </p:nvSpPr>
        <p:spPr>
          <a:xfrm>
            <a:off x="6492240" y="2103120"/>
            <a:ext cx="548640" cy="548640"/>
          </a:xfrm>
          <a:prstGeom prst="ellipse">
            <a:avLst/>
          </a:prstGeom>
          <a:solidFill>
            <a:srgbClr val="159C98"/>
          </a:solidFill>
          <a:ln/>
        </p:spPr>
      </p:sp>
      <p:sp>
        <p:nvSpPr>
          <p:cNvPr id="10" name="Text 8"/>
          <p:cNvSpPr txBox="1"/>
          <p:nvPr/>
        </p:nvSpPr>
        <p:spPr>
          <a:xfrm>
            <a:off x="6492240" y="210312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1" name="Text 9"/>
          <p:cNvSpPr txBox="1"/>
          <p:nvPr/>
        </p:nvSpPr>
        <p:spPr>
          <a:xfrm>
            <a:off x="7223760" y="2084832"/>
            <a:ext cx="4023360" cy="594360"/>
          </a:xfrm>
          <a:prstGeom prst="rect">
            <a:avLst/>
          </a:prstGeom>
          <a:noFill/>
          <a:ln/>
        </p:spPr>
        <p:txBody>
          <a:bodyPr wrap="square" lIns="0" tIns="0" rIns="0" bIns="0" rtlCol="0" anchor="ctr"/>
          <a:lstStyle/>
          <a:p>
            <a:pPr indent="0" marL="0">
              <a:lnSpc>
                <a:spcPct val="110000"/>
              </a:lnSpc>
              <a:buNone/>
            </a:pPr>
            <a:r>
              <a:rPr lang="en-US" sz="1450" b="1" dirty="0">
                <a:solidFill>
                  <a:srgbClr val="0E7C7B"/>
                </a:solidFill>
                <a:latin typeface="Calibri" pitchFamily="34" charset="0"/>
                <a:ea typeface="Calibri" pitchFamily="34" charset="-122"/>
                <a:cs typeface="Calibri" pitchFamily="34" charset="-120"/>
              </a:rPr>
              <a:t>Program Referral</a:t>
            </a:r>
            <a:endParaRPr lang="en-US" sz="1450" dirty="0"/>
          </a:p>
        </p:txBody>
      </p:sp>
      <p:sp>
        <p:nvSpPr>
          <p:cNvPr id="12" name="Text 10"/>
          <p:cNvSpPr txBox="1"/>
          <p:nvPr/>
        </p:nvSpPr>
        <p:spPr>
          <a:xfrm>
            <a:off x="6492240" y="2788920"/>
            <a:ext cx="4754880" cy="1005840"/>
          </a:xfrm>
          <a:prstGeom prst="rect">
            <a:avLst/>
          </a:prstGeom>
          <a:noFill/>
          <a:ln/>
        </p:spPr>
        <p:txBody>
          <a:bodyPr wrap="square" lIns="0" tIns="0" rIns="0" bIns="0" rtlCol="0" anchor="ctr"/>
          <a:lstStyle/>
          <a:p>
            <a:pPr indent="0" marL="0">
              <a:lnSpc>
                <a:spcPct val="125000"/>
              </a:lnSpc>
              <a:buNone/>
            </a:pPr>
            <a:r>
              <a:rPr lang="en-US" sz="1150" dirty="0">
                <a:solidFill>
                  <a:srgbClr val="6E6E6E"/>
                </a:solidFill>
                <a:latin typeface="Calibri" pitchFamily="34" charset="0"/>
                <a:ea typeface="Calibri" pitchFamily="34" charset="-122"/>
                <a:cs typeface="Calibri" pitchFamily="34" charset="-120"/>
              </a:rPr>
              <a:t>Manfaatkan pelanggan South bernilai tinggi untuk menjangkau pelanggan baru</a:t>
            </a:r>
            <a:endParaRPr lang="en-US" sz="1150" dirty="0"/>
          </a:p>
        </p:txBody>
      </p:sp>
      <p:sp>
        <p:nvSpPr>
          <p:cNvPr id="13" name="Shape 11"/>
          <p:cNvSpPr/>
          <p:nvPr/>
        </p:nvSpPr>
        <p:spPr>
          <a:xfrm>
            <a:off x="640080" y="4206240"/>
            <a:ext cx="5303520" cy="2103120"/>
          </a:xfrm>
          <a:prstGeom prst="roundRect">
            <a:avLst>
              <a:gd name="adj" fmla="val 3478"/>
            </a:avLst>
          </a:prstGeom>
          <a:solidFill>
            <a:srgbClr val="EFFAF7"/>
          </a:solidFill>
          <a:ln/>
        </p:spPr>
      </p:sp>
      <p:sp>
        <p:nvSpPr>
          <p:cNvPr id="14" name="Shape 12"/>
          <p:cNvSpPr/>
          <p:nvPr/>
        </p:nvSpPr>
        <p:spPr>
          <a:xfrm>
            <a:off x="914400" y="4480560"/>
            <a:ext cx="548640" cy="548640"/>
          </a:xfrm>
          <a:prstGeom prst="ellipse">
            <a:avLst/>
          </a:prstGeom>
          <a:solidFill>
            <a:srgbClr val="0E7C7B"/>
          </a:solidFill>
          <a:ln/>
        </p:spPr>
      </p:sp>
      <p:sp>
        <p:nvSpPr>
          <p:cNvPr id="15" name="Text 13"/>
          <p:cNvSpPr txBox="1"/>
          <p:nvPr/>
        </p:nvSpPr>
        <p:spPr>
          <a:xfrm>
            <a:off x="914400" y="44805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6" name="Text 14"/>
          <p:cNvSpPr txBox="1"/>
          <p:nvPr/>
        </p:nvSpPr>
        <p:spPr>
          <a:xfrm>
            <a:off x="1645920" y="4462272"/>
            <a:ext cx="4023360" cy="594360"/>
          </a:xfrm>
          <a:prstGeom prst="rect">
            <a:avLst/>
          </a:prstGeom>
          <a:noFill/>
          <a:ln/>
        </p:spPr>
        <p:txBody>
          <a:bodyPr wrap="square" lIns="0" tIns="0" rIns="0" bIns="0" rtlCol="0" anchor="ctr"/>
          <a:lstStyle/>
          <a:p>
            <a:pPr indent="0" marL="0">
              <a:lnSpc>
                <a:spcPct val="110000"/>
              </a:lnSpc>
              <a:buNone/>
            </a:pPr>
            <a:r>
              <a:rPr lang="en-US" sz="1450" b="1" dirty="0">
                <a:solidFill>
                  <a:srgbClr val="0E7C7B"/>
                </a:solidFill>
                <a:latin typeface="Calibri" pitchFamily="34" charset="0"/>
                <a:ea typeface="Calibri" pitchFamily="34" charset="-122"/>
                <a:cs typeface="Calibri" pitchFamily="34" charset="-120"/>
              </a:rPr>
              <a:t>Follow-up 30 Hari Pertama</a:t>
            </a:r>
            <a:endParaRPr lang="en-US" sz="1450" dirty="0"/>
          </a:p>
        </p:txBody>
      </p:sp>
      <p:sp>
        <p:nvSpPr>
          <p:cNvPr id="17" name="Text 15"/>
          <p:cNvSpPr txBox="1"/>
          <p:nvPr/>
        </p:nvSpPr>
        <p:spPr>
          <a:xfrm>
            <a:off x="914400" y="5166360"/>
            <a:ext cx="4754880" cy="1005840"/>
          </a:xfrm>
          <a:prstGeom prst="rect">
            <a:avLst/>
          </a:prstGeom>
          <a:noFill/>
          <a:ln/>
        </p:spPr>
        <p:txBody>
          <a:bodyPr wrap="square" lIns="0" tIns="0" rIns="0" bIns="0" rtlCol="0" anchor="ctr"/>
          <a:lstStyle/>
          <a:p>
            <a:pPr indent="0" marL="0">
              <a:lnSpc>
                <a:spcPct val="125000"/>
              </a:lnSpc>
              <a:buNone/>
            </a:pPr>
            <a:r>
              <a:rPr lang="en-US" sz="1150" dirty="0">
                <a:solidFill>
                  <a:srgbClr val="6E6E6E"/>
                </a:solidFill>
                <a:latin typeface="Calibri" pitchFamily="34" charset="0"/>
                <a:ea typeface="Calibri" pitchFamily="34" charset="-122"/>
                <a:cs typeface="Calibri" pitchFamily="34" charset="-120"/>
              </a:rPr>
              <a:t>Dorong repeat purchase pada pelanggan baru, fokus South, East, Corporate</a:t>
            </a:r>
            <a:endParaRPr lang="en-US" sz="1150" dirty="0"/>
          </a:p>
        </p:txBody>
      </p:sp>
      <p:sp>
        <p:nvSpPr>
          <p:cNvPr id="18" name="Shape 16"/>
          <p:cNvSpPr/>
          <p:nvPr/>
        </p:nvSpPr>
        <p:spPr>
          <a:xfrm>
            <a:off x="6217920" y="4206240"/>
            <a:ext cx="5303520" cy="2103120"/>
          </a:xfrm>
          <a:prstGeom prst="roundRect">
            <a:avLst>
              <a:gd name="adj" fmla="val 3478"/>
            </a:avLst>
          </a:prstGeom>
          <a:solidFill>
            <a:srgbClr val="EFFAF7"/>
          </a:solidFill>
          <a:ln/>
        </p:spPr>
      </p:sp>
      <p:sp>
        <p:nvSpPr>
          <p:cNvPr id="19" name="Shape 17"/>
          <p:cNvSpPr/>
          <p:nvPr/>
        </p:nvSpPr>
        <p:spPr>
          <a:xfrm>
            <a:off x="6492240" y="4480560"/>
            <a:ext cx="548640" cy="548640"/>
          </a:xfrm>
          <a:prstGeom prst="ellipse">
            <a:avLst/>
          </a:prstGeom>
          <a:solidFill>
            <a:srgbClr val="159C98"/>
          </a:solidFill>
          <a:ln/>
        </p:spPr>
      </p:sp>
      <p:sp>
        <p:nvSpPr>
          <p:cNvPr id="20" name="Text 18"/>
          <p:cNvSpPr txBox="1"/>
          <p:nvPr/>
        </p:nvSpPr>
        <p:spPr>
          <a:xfrm>
            <a:off x="6492240" y="44805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1" name="Text 19"/>
          <p:cNvSpPr txBox="1"/>
          <p:nvPr/>
        </p:nvSpPr>
        <p:spPr>
          <a:xfrm>
            <a:off x="7223760" y="4462272"/>
            <a:ext cx="4023360" cy="594360"/>
          </a:xfrm>
          <a:prstGeom prst="rect">
            <a:avLst/>
          </a:prstGeom>
          <a:noFill/>
          <a:ln/>
        </p:spPr>
        <p:txBody>
          <a:bodyPr wrap="square" lIns="0" tIns="0" rIns="0" bIns="0" rtlCol="0" anchor="ctr"/>
          <a:lstStyle/>
          <a:p>
            <a:pPr indent="0" marL="0">
              <a:lnSpc>
                <a:spcPct val="110000"/>
              </a:lnSpc>
              <a:buNone/>
            </a:pPr>
            <a:r>
              <a:rPr lang="en-US" sz="1450" b="1" dirty="0">
                <a:solidFill>
                  <a:srgbClr val="0E7C7B"/>
                </a:solidFill>
                <a:latin typeface="Calibri" pitchFamily="34" charset="0"/>
                <a:ea typeface="Calibri" pitchFamily="34" charset="-122"/>
                <a:cs typeface="Calibri" pitchFamily="34" charset="-120"/>
              </a:rPr>
              <a:t>Program Loyalitas</a:t>
            </a:r>
            <a:endParaRPr lang="en-US" sz="1450" dirty="0"/>
          </a:p>
        </p:txBody>
      </p:sp>
      <p:sp>
        <p:nvSpPr>
          <p:cNvPr id="22" name="Text 20"/>
          <p:cNvSpPr txBox="1"/>
          <p:nvPr/>
        </p:nvSpPr>
        <p:spPr>
          <a:xfrm>
            <a:off x="6492240" y="5166360"/>
            <a:ext cx="4754880" cy="1005840"/>
          </a:xfrm>
          <a:prstGeom prst="rect">
            <a:avLst/>
          </a:prstGeom>
          <a:noFill/>
          <a:ln/>
        </p:spPr>
        <p:txBody>
          <a:bodyPr wrap="square" lIns="0" tIns="0" rIns="0" bIns="0" rtlCol="0" anchor="ctr"/>
          <a:lstStyle/>
          <a:p>
            <a:pPr indent="0" marL="0">
              <a:lnSpc>
                <a:spcPct val="125000"/>
              </a:lnSpc>
              <a:buNone/>
            </a:pPr>
            <a:r>
              <a:rPr lang="en-US" sz="1150" dirty="0">
                <a:solidFill>
                  <a:srgbClr val="6E6E6E"/>
                </a:solidFill>
                <a:latin typeface="Calibri" pitchFamily="34" charset="0"/>
                <a:ea typeface="Calibri" pitchFamily="34" charset="-122"/>
                <a:cs typeface="Calibri" pitchFamily="34" charset="-120"/>
              </a:rPr>
              <a:t>Tingkatkan frekuensi belanja segmen Consumer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E7C7B"/>
                </a:solidFill>
                <a:latin typeface="Cambria" pitchFamily="34" charset="0"/>
                <a:ea typeface="Cambria" pitchFamily="34" charset="-122"/>
                <a:cs typeface="Cambria" pitchFamily="34" charset="-120"/>
              </a:rPr>
              <a:t>Expected Impact</a:t>
            </a:r>
            <a:endParaRPr lang="en-US" sz="3000" dirty="0"/>
          </a:p>
        </p:txBody>
      </p:sp>
      <p:sp>
        <p:nvSpPr>
          <p:cNvPr id="3" name="Text 1"/>
          <p:cNvSpPr txBox="1"/>
          <p:nvPr/>
        </p:nvSpPr>
        <p:spPr>
          <a:xfrm>
            <a:off x="640080" y="1033272"/>
            <a:ext cx="10881360" cy="365760"/>
          </a:xfrm>
          <a:prstGeom prst="rect">
            <a:avLst/>
          </a:prstGeom>
          <a:noFill/>
          <a:ln/>
        </p:spPr>
        <p:txBody>
          <a:bodyPr wrap="square" lIns="0" tIns="0" rIns="0" bIns="0" rtlCol="0" anchor="ctr"/>
          <a:lstStyle/>
          <a:p>
            <a:pPr indent="0" marL="0">
              <a:buNone/>
            </a:pPr>
            <a:r>
              <a:rPr lang="en-US" sz="1250" dirty="0">
                <a:solidFill>
                  <a:srgbClr val="6E6E6E"/>
                </a:solidFill>
                <a:latin typeface="Calibri" pitchFamily="34" charset="0"/>
                <a:ea typeface="Calibri" pitchFamily="34" charset="-122"/>
                <a:cs typeface="Calibri" pitchFamily="34" charset="-120"/>
              </a:rPr>
              <a:t>Dampak yang diharapkan dari penerapan rekomendasi</a:t>
            </a:r>
            <a:endParaRPr lang="en-US" sz="1250" dirty="0"/>
          </a:p>
        </p:txBody>
      </p:sp>
      <p:sp>
        <p:nvSpPr>
          <p:cNvPr id="4" name="Shape 2"/>
          <p:cNvSpPr/>
          <p:nvPr/>
        </p:nvSpPr>
        <p:spPr>
          <a:xfrm>
            <a:off x="640080" y="2011680"/>
            <a:ext cx="3429000" cy="3474720"/>
          </a:xfrm>
          <a:prstGeom prst="roundRect">
            <a:avLst>
              <a:gd name="adj" fmla="val 2133"/>
            </a:avLst>
          </a:prstGeom>
          <a:solidFill>
            <a:srgbClr val="0E7C7B"/>
          </a:solidFill>
          <a:ln/>
        </p:spPr>
      </p:sp>
      <p:sp>
        <p:nvSpPr>
          <p:cNvPr id="5" name="Text 3"/>
          <p:cNvSpPr txBox="1"/>
          <p:nvPr/>
        </p:nvSpPr>
        <p:spPr>
          <a:xfrm>
            <a:off x="868680" y="2377440"/>
            <a:ext cx="2971800" cy="1463040"/>
          </a:xfrm>
          <a:prstGeom prst="rect">
            <a:avLst/>
          </a:prstGeom>
          <a:noFill/>
          <a:ln/>
        </p:spPr>
        <p:txBody>
          <a:bodyPr wrap="square" lIns="0" tIns="0" rIns="0" bIns="0" rtlCol="0" anchor="ctr"/>
          <a:lstStyle/>
          <a:p>
            <a:pPr indent="0" marL="0">
              <a:lnSpc>
                <a:spcPct val="110000"/>
              </a:lnSpc>
              <a:buNone/>
            </a:pPr>
            <a:r>
              <a:rPr lang="en-US" sz="2400" b="1" dirty="0">
                <a:solidFill>
                  <a:srgbClr val="FF6F59"/>
                </a:solidFill>
                <a:latin typeface="Calibri" pitchFamily="34" charset="0"/>
                <a:ea typeface="Calibri" pitchFamily="34" charset="-122"/>
                <a:cs typeface="Calibri" pitchFamily="34" charset="-120"/>
              </a:rPr>
              <a:t>Rp 522 Juta</a:t>
            </a:r>
            <a:endParaRPr lang="en-US" sz="2400" dirty="0"/>
          </a:p>
        </p:txBody>
      </p:sp>
      <p:sp>
        <p:nvSpPr>
          <p:cNvPr id="6" name="Text 4"/>
          <p:cNvSpPr txBox="1"/>
          <p:nvPr/>
        </p:nvSpPr>
        <p:spPr>
          <a:xfrm>
            <a:off x="868680" y="3977640"/>
            <a:ext cx="2971800" cy="1280160"/>
          </a:xfrm>
          <a:prstGeom prst="rect">
            <a:avLst/>
          </a:prstGeom>
          <a:noFill/>
          <a:ln/>
        </p:spPr>
        <p:txBody>
          <a:bodyPr wrap="square" lIns="0" tIns="0" rIns="0" bIns="0" rtlCol="0" anchor="ctr"/>
          <a:lstStyle/>
          <a:p>
            <a:pPr indent="0" marL="0">
              <a:lnSpc>
                <a:spcPct val="130000"/>
              </a:lnSpc>
              <a:buNone/>
            </a:pPr>
            <a:r>
              <a:rPr lang="en-US" sz="1200" dirty="0">
                <a:solidFill>
                  <a:srgbClr val="BDEDE3"/>
                </a:solidFill>
                <a:latin typeface="Calibri" pitchFamily="34" charset="0"/>
                <a:ea typeface="Calibri" pitchFamily="34" charset="-122"/>
                <a:cs typeface="Calibri" pitchFamily="34" charset="-120"/>
              </a:rPr>
              <a:t>Potensi tambahan revenue dari akuisisi pelanggan South</a:t>
            </a:r>
            <a:endParaRPr lang="en-US" sz="1200" dirty="0"/>
          </a:p>
        </p:txBody>
      </p:sp>
      <p:sp>
        <p:nvSpPr>
          <p:cNvPr id="7" name="Shape 5"/>
          <p:cNvSpPr/>
          <p:nvPr/>
        </p:nvSpPr>
        <p:spPr>
          <a:xfrm>
            <a:off x="4343400" y="2011680"/>
            <a:ext cx="3429000" cy="3474720"/>
          </a:xfrm>
          <a:prstGeom prst="roundRect">
            <a:avLst>
              <a:gd name="adj" fmla="val 2133"/>
            </a:avLst>
          </a:prstGeom>
          <a:solidFill>
            <a:srgbClr val="EFFAF7"/>
          </a:solidFill>
          <a:ln/>
        </p:spPr>
      </p:sp>
      <p:sp>
        <p:nvSpPr>
          <p:cNvPr id="8" name="Text 6"/>
          <p:cNvSpPr txBox="1"/>
          <p:nvPr/>
        </p:nvSpPr>
        <p:spPr>
          <a:xfrm>
            <a:off x="4572000" y="2377440"/>
            <a:ext cx="2971800" cy="1463040"/>
          </a:xfrm>
          <a:prstGeom prst="rect">
            <a:avLst/>
          </a:prstGeom>
          <a:noFill/>
          <a:ln/>
        </p:spPr>
        <p:txBody>
          <a:bodyPr wrap="square" lIns="0" tIns="0" rIns="0" bIns="0" rtlCol="0" anchor="ctr"/>
          <a:lstStyle/>
          <a:p>
            <a:pPr indent="0" marL="0">
              <a:lnSpc>
                <a:spcPct val="110000"/>
              </a:lnSpc>
              <a:buNone/>
            </a:pPr>
            <a:r>
              <a:rPr lang="en-US" sz="2400" b="1" dirty="0">
                <a:solidFill>
                  <a:srgbClr val="0E7C7B"/>
                </a:solidFill>
                <a:latin typeface="Calibri" pitchFamily="34" charset="0"/>
                <a:ea typeface="Calibri" pitchFamily="34" charset="-122"/>
                <a:cs typeface="Calibri" pitchFamily="34" charset="-120"/>
              </a:rPr>
              <a:t>↓ One-time</a:t>
            </a:r>
            <a:endParaRPr lang="en-US" sz="2400" dirty="0"/>
          </a:p>
          <a:p>
            <a:pPr indent="0" marL="0">
              <a:lnSpc>
                <a:spcPct val="110000"/>
              </a:lnSpc>
              <a:buNone/>
            </a:pPr>
            <a:r>
              <a:rPr lang="en-US" sz="2400" b="1" dirty="0">
                <a:solidFill>
                  <a:srgbClr val="0E7C7B"/>
                </a:solidFill>
                <a:latin typeface="Calibri" pitchFamily="34" charset="0"/>
                <a:ea typeface="Calibri" pitchFamily="34" charset="-122"/>
                <a:cs typeface="Calibri" pitchFamily="34" charset="-120"/>
              </a:rPr>
              <a:t>Buyer Rate</a:t>
            </a:r>
            <a:endParaRPr lang="en-US" sz="2400" dirty="0"/>
          </a:p>
        </p:txBody>
      </p:sp>
      <p:sp>
        <p:nvSpPr>
          <p:cNvPr id="9" name="Text 7"/>
          <p:cNvSpPr txBox="1"/>
          <p:nvPr/>
        </p:nvSpPr>
        <p:spPr>
          <a:xfrm>
            <a:off x="4572000" y="3977640"/>
            <a:ext cx="2971800" cy="1280160"/>
          </a:xfrm>
          <a:prstGeom prst="rect">
            <a:avLst/>
          </a:prstGeom>
          <a:noFill/>
          <a:ln/>
        </p:spPr>
        <p:txBody>
          <a:bodyPr wrap="square" lIns="0" tIns="0" rIns="0" bIns="0" rtlCol="0" anchor="ctr"/>
          <a:lstStyle/>
          <a:p>
            <a:pPr indent="0" marL="0">
              <a:lnSpc>
                <a:spcPct val="130000"/>
              </a:lnSpc>
              <a:buNone/>
            </a:pPr>
            <a:r>
              <a:rPr lang="en-US" sz="1200" dirty="0">
                <a:solidFill>
                  <a:srgbClr val="6E6E6E"/>
                </a:solidFill>
                <a:latin typeface="Calibri" pitchFamily="34" charset="0"/>
                <a:ea typeface="Calibri" pitchFamily="34" charset="-122"/>
                <a:cs typeface="Calibri" pitchFamily="34" charset="-120"/>
              </a:rPr>
              <a:t>Retensi pelanggan baru meningkat lewat program follow-up</a:t>
            </a:r>
            <a:endParaRPr lang="en-US" sz="1200" dirty="0"/>
          </a:p>
        </p:txBody>
      </p:sp>
      <p:sp>
        <p:nvSpPr>
          <p:cNvPr id="10" name="Shape 8"/>
          <p:cNvSpPr/>
          <p:nvPr/>
        </p:nvSpPr>
        <p:spPr>
          <a:xfrm>
            <a:off x="8046720" y="2011680"/>
            <a:ext cx="3429000" cy="3474720"/>
          </a:xfrm>
          <a:prstGeom prst="roundRect">
            <a:avLst>
              <a:gd name="adj" fmla="val 2133"/>
            </a:avLst>
          </a:prstGeom>
          <a:solidFill>
            <a:srgbClr val="EFFAF7"/>
          </a:solidFill>
          <a:ln/>
        </p:spPr>
      </p:sp>
      <p:sp>
        <p:nvSpPr>
          <p:cNvPr id="11" name="Text 9"/>
          <p:cNvSpPr txBox="1"/>
          <p:nvPr/>
        </p:nvSpPr>
        <p:spPr>
          <a:xfrm>
            <a:off x="8275320" y="2377440"/>
            <a:ext cx="2971800" cy="1463040"/>
          </a:xfrm>
          <a:prstGeom prst="rect">
            <a:avLst/>
          </a:prstGeom>
          <a:noFill/>
          <a:ln/>
        </p:spPr>
        <p:txBody>
          <a:bodyPr wrap="square" lIns="0" tIns="0" rIns="0" bIns="0" rtlCol="0" anchor="ctr"/>
          <a:lstStyle/>
          <a:p>
            <a:pPr indent="0" marL="0">
              <a:lnSpc>
                <a:spcPct val="110000"/>
              </a:lnSpc>
              <a:buNone/>
            </a:pPr>
            <a:r>
              <a:rPr lang="en-US" sz="2400" b="1" dirty="0">
                <a:solidFill>
                  <a:srgbClr val="0E7C7B"/>
                </a:solidFill>
                <a:latin typeface="Calibri" pitchFamily="34" charset="0"/>
                <a:ea typeface="Calibri" pitchFamily="34" charset="-122"/>
                <a:cs typeface="Calibri" pitchFamily="34" charset="-120"/>
              </a:rPr>
              <a:t>↑ Customer</a:t>
            </a:r>
            <a:endParaRPr lang="en-US" sz="2400" dirty="0"/>
          </a:p>
          <a:p>
            <a:pPr indent="0" marL="0">
              <a:lnSpc>
                <a:spcPct val="110000"/>
              </a:lnSpc>
              <a:buNone/>
            </a:pPr>
            <a:r>
              <a:rPr lang="en-US" sz="2400" b="1" dirty="0">
                <a:solidFill>
                  <a:srgbClr val="0E7C7B"/>
                </a:solidFill>
                <a:latin typeface="Calibri" pitchFamily="34" charset="0"/>
                <a:ea typeface="Calibri" pitchFamily="34" charset="-122"/>
                <a:cs typeface="Calibri" pitchFamily="34" charset="-120"/>
              </a:rPr>
              <a:t>Lifetime Value</a:t>
            </a:r>
            <a:endParaRPr lang="en-US" sz="2400" dirty="0"/>
          </a:p>
        </p:txBody>
      </p:sp>
      <p:sp>
        <p:nvSpPr>
          <p:cNvPr id="12" name="Text 10"/>
          <p:cNvSpPr txBox="1"/>
          <p:nvPr/>
        </p:nvSpPr>
        <p:spPr>
          <a:xfrm>
            <a:off x="8275320" y="3977640"/>
            <a:ext cx="2971800" cy="1280160"/>
          </a:xfrm>
          <a:prstGeom prst="rect">
            <a:avLst/>
          </a:prstGeom>
          <a:noFill/>
          <a:ln/>
        </p:spPr>
        <p:txBody>
          <a:bodyPr wrap="square" lIns="0" tIns="0" rIns="0" bIns="0" rtlCol="0" anchor="ctr"/>
          <a:lstStyle/>
          <a:p>
            <a:pPr indent="0" marL="0">
              <a:lnSpc>
                <a:spcPct val="130000"/>
              </a:lnSpc>
              <a:buNone/>
            </a:pPr>
            <a:r>
              <a:rPr lang="en-US" sz="1200" dirty="0">
                <a:solidFill>
                  <a:srgbClr val="6E6E6E"/>
                </a:solidFill>
                <a:latin typeface="Calibri" pitchFamily="34" charset="0"/>
                <a:ea typeface="Calibri" pitchFamily="34" charset="-122"/>
                <a:cs typeface="Calibri" pitchFamily="34" charset="-120"/>
              </a:rPr>
              <a:t>Loyalitas pelanggan Consumer meningkat dalam jangka panjang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4938F"/>
          </a:solidFill>
          <a:ln/>
        </p:spPr>
      </p:sp>
      <p:sp>
        <p:nvSpPr>
          <p:cNvPr id="3" name="Text 1"/>
          <p:cNvSpPr txBox="1"/>
          <p:nvPr/>
        </p:nvSpPr>
        <p:spPr>
          <a:xfrm>
            <a:off x="822960" y="1280160"/>
            <a:ext cx="9144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4" name="Text 2"/>
          <p:cNvSpPr txBox="1"/>
          <p:nvPr/>
        </p:nvSpPr>
        <p:spPr>
          <a:xfrm>
            <a:off x="822960" y="2286000"/>
            <a:ext cx="9601200" cy="914400"/>
          </a:xfrm>
          <a:prstGeom prst="rect">
            <a:avLst/>
          </a:prstGeom>
          <a:noFill/>
          <a:ln/>
        </p:spPr>
        <p:txBody>
          <a:bodyPr wrap="square" lIns="0" tIns="0" rIns="0" bIns="0" rtlCol="0" anchor="ctr"/>
          <a:lstStyle/>
          <a:p>
            <a:pPr indent="0" marL="0">
              <a:lnSpc>
                <a:spcPct val="130000"/>
              </a:lnSpc>
              <a:buNone/>
            </a:pPr>
            <a:r>
              <a:rPr lang="en-US" sz="1800" b="1" dirty="0">
                <a:solidFill>
                  <a:srgbClr val="FF6F59"/>
                </a:solidFill>
                <a:latin typeface="Calibri" pitchFamily="34" charset="0"/>
                <a:ea typeface="Calibri" pitchFamily="34" charset="-122"/>
                <a:cs typeface="Calibri" pitchFamily="34" charset="-120"/>
              </a:rPr>
              <a:t>Masalah penjualan di South bukan soal kualitas pelanggan, tapi soal jumlah basis pelanggan yang masih sedikit.</a:t>
            </a:r>
            <a:endParaRPr lang="en-US" sz="1800" dirty="0"/>
          </a:p>
        </p:txBody>
      </p:sp>
      <p:sp>
        <p:nvSpPr>
          <p:cNvPr id="5" name="Text 3"/>
          <p:cNvSpPr txBox="1"/>
          <p:nvPr/>
        </p:nvSpPr>
        <p:spPr>
          <a:xfrm>
            <a:off x="822960" y="3383280"/>
            <a:ext cx="9601200" cy="1828800"/>
          </a:xfrm>
          <a:prstGeom prst="rect">
            <a:avLst/>
          </a:prstGeom>
          <a:noFill/>
          <a:ln/>
        </p:spPr>
        <p:txBody>
          <a:bodyPr wrap="square" lIns="0" tIns="0" rIns="0" bIns="0" rtlCol="0" anchor="ctr"/>
          <a:lstStyle/>
          <a:p>
            <a:pPr indent="0" marL="0">
              <a:lnSpc>
                <a:spcPct val="140000"/>
              </a:lnSpc>
              <a:buNone/>
            </a:pPr>
            <a:r>
              <a:rPr lang="en-US" sz="1400" dirty="0">
                <a:solidFill>
                  <a:srgbClr val="BDEDE3"/>
                </a:solidFill>
                <a:latin typeface="Calibri" pitchFamily="34" charset="0"/>
                <a:ea typeface="Calibri" pitchFamily="34" charset="-122"/>
                <a:cs typeface="Calibri" pitchFamily="34" charset="-120"/>
              </a:rPr>
              <a:t>Temuan ini mengarahkan strategi ke sasaran yang tepat: akuisisi pelanggan baru di South, bukan sekadar mendorong pelanggan lebih royal. Dikombinasikan dengan peningkatan retensi pelanggan baru dan program loyalitas untuk segmen Consumer, rekomendasi ini diharapkan mendukung Superstore Inc. menyusun strategi pemasaran yang lebih terarah dan berbasis data.</a:t>
            </a:r>
            <a:endParaRPr lang="en-US" sz="1400" dirty="0"/>
          </a:p>
        </p:txBody>
      </p:sp>
      <p:sp>
        <p:nvSpPr>
          <p:cNvPr id="6" name="Text 4"/>
          <p:cNvSpPr txBox="1"/>
          <p:nvPr/>
        </p:nvSpPr>
        <p:spPr>
          <a:xfrm>
            <a:off x="822960" y="5760720"/>
            <a:ext cx="548640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Terima kasih</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2026-09-14T09:11:57Z</dcterms:created>
  <dcterms:modified xsi:type="dcterms:W3CDTF">2026-09-14T09:11:57Z</dcterms:modified>
</cp:coreProperties>
</file>