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2188952" cy="0"/>
          </a:xfrm>
          <a:prstGeom prst="line">
            <a:avLst/>
          </a:prstGeom>
          <a:noFill/>
          <a:ln w="9525">
            <a:solidFill>
              <a:srgbClr val="2A4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011680"/>
            <a:ext cx="256032" cy="0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011680"/>
            <a:ext cx="0" cy="256032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65408" y="2011680"/>
            <a:ext cx="256032" cy="0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011680"/>
            <a:ext cx="0" cy="256032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389120"/>
            <a:ext cx="256032" cy="0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4133088"/>
            <a:ext cx="0" cy="256032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65408" y="4389120"/>
            <a:ext cx="256032" cy="0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0" y="4133088"/>
            <a:ext cx="0" cy="256032"/>
          </a:xfrm>
          <a:prstGeom prst="line">
            <a:avLst/>
          </a:prstGeom>
          <a:noFill/>
          <a:ln w="19050">
            <a:solidFill>
              <a:srgbClr val="7FD9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I N A L   P R O J E C T   ·   E D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 Sales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Menyeluruh: Statistik, Pola, Masalah, dan Peluang Bisnis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 — 2018  /  9,994 Transaksi  /  4 Region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   |   Junior Data Analyst Simulation   |   Edusoft Center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Superstore — data transaksi penjualan retail Amerika Serikat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 4 tahun: Januari 2015 hingga Desember 2018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9,994 baris transaksi, 21 kolom (produk, pelanggan, wilayah, finansial)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Mencakup 4 Region, 3 Category, 17 Sub-Category, dan 3 Segment pelanggan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0" y="19202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132530"/>
          </a:solidFill>
          <a:ln w="12700">
            <a:solidFill>
              <a:srgbClr val="2A4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920240"/>
            <a:ext cx="41148" cy="960120"/>
          </a:xfrm>
          <a:prstGeom prst="rect">
            <a:avLst/>
          </a:prstGeom>
          <a:solidFill>
            <a:srgbClr val="7FD9C4"/>
          </a:solidFill>
          <a:ln w="12700">
            <a:solidFill>
              <a:srgbClr val="7F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04825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9,994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0" y="25420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TRANSAKSI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0" y="301752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132530"/>
          </a:solidFill>
          <a:ln w="12700">
            <a:solidFill>
              <a:srgbClr val="2A4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017520"/>
            <a:ext cx="41148" cy="9601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14553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0" y="36393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411480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132530"/>
          </a:solidFill>
          <a:ln w="12700">
            <a:solidFill>
              <a:srgbClr val="2A4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4114800"/>
            <a:ext cx="41148" cy="960120"/>
          </a:xfrm>
          <a:prstGeom prst="rect">
            <a:avLst/>
          </a:prstGeom>
          <a:solidFill>
            <a:srgbClr val="7FD9C4"/>
          </a:solidFill>
          <a:ln w="12700">
            <a:solidFill>
              <a:srgbClr val="7FD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42428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2015-2018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0" y="47365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 DATA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 Deskriptif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2606040" cy="1143000"/>
          </a:xfrm>
          <a:prstGeom prst="roundRect">
            <a:avLst>
              <a:gd name="adj" fmla="val 4800"/>
            </a:avLst>
          </a:prstGeom>
          <a:solidFill>
            <a:srgbClr val="132530"/>
          </a:solidFill>
          <a:ln w="12700">
            <a:solidFill>
              <a:srgbClr val="2A4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41148" cy="1143000"/>
          </a:xfrm>
          <a:prstGeom prst="rect">
            <a:avLst/>
          </a:prstGeom>
          <a:solidFill>
            <a:srgbClr val="7FD9C4"/>
          </a:solidFill>
          <a:ln w="12700">
            <a:solidFill>
              <a:srgbClr val="7FD9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025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$2.30M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4963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2606040" cy="1143000"/>
          </a:xfrm>
          <a:prstGeom prst="roundRect">
            <a:avLst>
              <a:gd name="adj" fmla="val 4800"/>
            </a:avLst>
          </a:prstGeom>
          <a:solidFill>
            <a:srgbClr val="132530"/>
          </a:solidFill>
          <a:ln w="12700">
            <a:solidFill>
              <a:srgbClr val="2A4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874520"/>
            <a:ext cx="41148" cy="11430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0025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$286.4K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4963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1143000"/>
          </a:xfrm>
          <a:prstGeom prst="roundRect">
            <a:avLst>
              <a:gd name="adj" fmla="val 4800"/>
            </a:avLst>
          </a:prstGeom>
          <a:solidFill>
            <a:srgbClr val="132530"/>
          </a:solidFill>
          <a:ln w="12700">
            <a:solidFill>
              <a:srgbClr val="2A4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74520"/>
            <a:ext cx="41148" cy="1143000"/>
          </a:xfrm>
          <a:prstGeom prst="rect">
            <a:avLst/>
          </a:prstGeom>
          <a:solidFill>
            <a:srgbClr val="7FD9C4"/>
          </a:solidFill>
          <a:ln w="12700">
            <a:solidFill>
              <a:srgbClr val="7FD9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025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4963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06840" y="187452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132530"/>
          </a:solidFill>
          <a:ln w="12700">
            <a:solidFill>
              <a:srgbClr val="2A4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1874520"/>
            <a:ext cx="41148" cy="11430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0025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$458.6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8972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10881360" cy="23774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5394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Keterangan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Rata-rata Discount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FD9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C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Cukup tinggi, berpotensi menggerus margin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Transaksi Merugi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A6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1,871 (18.7%)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C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Hampir 1 dari 5 transaksi tidak untung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Tertinggi (Region)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FD9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C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$725,458 total Sales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Utama — Tren &amp; Wilayah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pic>
        <p:nvPicPr>
          <p:cNvPr id="6" name="Image 0" descr="charts_dark/1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492240" cy="3017520"/>
          </a:xfrm>
          <a:prstGeom prst="rect">
            <a:avLst/>
          </a:prstGeom>
        </p:spPr>
      </p:pic>
      <p:pic>
        <p:nvPicPr>
          <p:cNvPr id="7" name="Image 1" descr="charts_dark/2_reg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74520"/>
            <a:ext cx="4297680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 tumbuh signifikan sejak 2017; wilayah West secara konsisten memimpin Sales tertinggi.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Utama — Profitabilitas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pic>
        <p:nvPicPr>
          <p:cNvPr id="6" name="Image 0" descr="charts_dark/4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943600" cy="3429000"/>
          </a:xfrm>
          <a:prstGeom prst="rect">
            <a:avLst/>
          </a:prstGeom>
        </p:spPr>
      </p:pic>
      <p:pic>
        <p:nvPicPr>
          <p:cNvPr id="7" name="Image 1" descr="charts_dark/5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20"/>
            <a:ext cx="4937760" cy="3429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 besar (&gt;30%) berulang kali menghasilkan kerugian; Furniture di Central adalah satu-satunya kombinasi wilayah-kategori yang merugi.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Penting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Wilayah West dan segmen Consumer adalah kontributor Sales terbesar secara konsisten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Technology mendominasi penjualan, dengan Phones sebagai sub-kategori terlaris ($330K)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musiman jelas: Maret adalah bulan performa terbaik, Februari terlemah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 di atas 30-40% berkorelasi kuat dengan kerugian (rata-rata diskon transaksi rugi = 48%, vs 8% pada transaksi untung)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di Central adalah satu-satunya kombinasi wilayah-kategori yang merugi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Permasalahan yang Ditemukan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 dari seluruh transaksi mengalami kerugian — nyaris 1 dari 5 order tidak menguntungkan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Kebijakan diskon saat ini tidak memperhitungkan batas margin produk, sehingga diskon besar sering melebihi keuntungan yang bisa didapat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Furniture punya margin keuntungan paling tipis dibanding Office Supplies dan Technology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 wilayah Central tertinggal jauh dari West dan East, khususnya pada kategori Furniture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Bisnis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Optimasi kebijakan diskon berpotensi menyelamatkan sebagian besar dari 1,871 transaksi yang merugi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 Consumer dan wilayah West adalah target ekspansi paling menjanjikan untuk pertumbuhan lanjutan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musiman (puncak di Maret) bisa dimanfaatkan untuk perencanaan stok dan kampanye promosi yang lebih tepat waktu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Cross-selling produk Technology bernilai tinggi ke pelanggan Furniture/Office Supplies berpotensi menaikkan Average Order Value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0"/>
          </a:xfrm>
          <a:prstGeom prst="line">
            <a:avLst/>
          </a:prstGeom>
          <a:noFill/>
          <a:ln w="12700">
            <a:solidFill>
              <a:srgbClr val="2A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463040" cy="0"/>
          </a:xfrm>
          <a:prstGeom prst="line">
            <a:avLst/>
          </a:prstGeom>
          <a:noFill/>
          <a:ln w="25400">
            <a:solidFill>
              <a:srgbClr val="7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Terapkan batas maksimum diskon (misalnya 20%) khusus untuk kategori Furniture dan Office Supplies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ulang struktur biaya/distribusi Furniture di wilayah Central untuk mengatasi kerugian yang konsisten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Susun kalender promosi yang selaras dengan pola musiman, dengan persiapan stok lebih awal menjelang Maret</a:t>
            </a:r>
            <a:endParaRPr lang="en-US" sz="155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▸"/>
            </a:pPr>
            <a:r>
              <a:rPr lang="en-US" sz="1550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 dashboard monitoring diskon vs profit secara real-time agar transaksi berisiko rugi bisa terdeteksi lebih cepat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2188952" cy="0"/>
          </a:xfrm>
          <a:prstGeom prst="line">
            <a:avLst/>
          </a:prstGeom>
          <a:noFill/>
          <a:ln w="9525">
            <a:solidFill>
              <a:srgbClr val="2A4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377440"/>
            <a:ext cx="237744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377440"/>
            <a:ext cx="0" cy="237744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83696" y="2377440"/>
            <a:ext cx="237744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377440"/>
            <a:ext cx="0" cy="237744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114800"/>
            <a:ext cx="237744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877056"/>
            <a:ext cx="0" cy="237744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83696" y="4114800"/>
            <a:ext cx="237744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0" y="3877056"/>
            <a:ext cx="0" cy="237744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Dataset, insight, dan rekomendasi ini siap ditindaklanjuti oleh tim bisnis.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   |   Junior Data Analyst Simulation   |   Edusoft Center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2026-08-14T02:16:38Z</dcterms:created>
  <dcterms:modified xsi:type="dcterms:W3CDTF">2026-08-14T02:16:38Z</dcterms:modified>
</cp:coreProperties>
</file>