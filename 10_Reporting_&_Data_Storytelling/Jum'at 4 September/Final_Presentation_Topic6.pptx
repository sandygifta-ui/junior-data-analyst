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1653D"/>
          </a:solidFill>
          <a:ln w="12700">
            <a:solidFill>
              <a:srgbClr val="C165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MEETING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Profit Perusahaan Tertekan?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Analisis Data — Superstore Inc.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828800" cy="0"/>
          </a:xfrm>
          <a:prstGeom prst="line">
            <a:avLst/>
          </a:prstGeom>
          <a:noFill/>
          <a:ln w="317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Inc. sempat mengkhawatirkan penurunan performa - namun ternyata volume penjualan masih tumbuh, jadi itu bukan akar masalahnya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sebenarnya tertekan adalah profitabilitas: hampir 1 dari 5 transaksi (18.7%) justru merugi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Penelusuran lebih dalam menunjukkan penyebabnya adalah kebijakan diskon yang tidak mempertimbangkan margin produk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ini akan membahas bukti-buktinya secara berurutan, lalu ditutup dengan 3 rekomendasi yang berpotensi menyelamatkan $125K dari kerugian yang ada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berangkat investigasi ini: laporan bahwa penjualan menurun dalam 3 bulan terakhir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 begitu data ditelusuri, angka menunjukkan hal yang berbeda - Sales secara volume tetap tumbuh ke $2.30 juta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saya temukan sebagai masalah sesungguhnya: hampir 1 dari 5 transaksi (18.7%) justru menghasilkan kerugian, bukan keuntungan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Pertanyaannya kemudian bergeser - bukan lagi 'kenapa penjualan turun', tapi 'kenapa begitu banyak transaksi yang merugi'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503920" y="205740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2057400"/>
            <a:ext cx="54864" cy="1051560"/>
          </a:xfrm>
          <a:prstGeom prst="rect">
            <a:avLst/>
          </a:prstGeom>
          <a:solidFill>
            <a:srgbClr val="C1653D"/>
          </a:solidFill>
          <a:ln w="12700">
            <a:solidFill>
              <a:srgbClr val="C16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2194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Merugi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0" y="324612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3246120"/>
            <a:ext cx="54864" cy="105156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$2.30M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68680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(Tetap Tumbuh)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BISNIS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'kenapa banyak transaksi merugi' ini kemudian dirumuskan menjadi satu Business Question yang bisa dijawab dengan data: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80360" y="2377440"/>
            <a:ext cx="8686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16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5603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16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“Faktor apa yang paling berkontribusi terhadap tekanan profitabilitas, dan bagaimana cara mengatasinya?”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Methodology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menjawab pertanyaan itu, saya menganalisis 9,994 transaksi penjualan Superstore Inc. periode 2015-2018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jadi fokus utama: Sales, Profit, Discount, Region, Category, dan Segment pelanggan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Prosesnya bertahap: mulai dari Exploratory Data Analysis untuk melihat pola umum, dilanjutkan Root Cause Analysis (5 Why, Fishbone, Pareto, Drill Down) untuk mencari akar masalah, lalu diperdalam dengan Comparison dan Contribution Analysis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dari proses ini adalah tiga temuan kunci yang akan dibahas berikutnya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Diskon Besar = Penyebab Utama Kerugian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pertama, saya membandingkan Profit rata-rata di tiap tingkat Discount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Hasilnya jelas: transaksi dengan Discount &gt;=40% hanya 11.4% dari total transaksi, tapi menyumbang 80.3% dari total kerugian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Profit berubah dari +$66.9 (diskon 0%) menjadi -$134.6 (diskon 41-60%) - titik baliknya ada di sekitar diskon 20%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selanjutnya: di mana persisnya masalah diskon ini paling terasa?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 Terkonsentrasi, Bukan Menyebar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menjawab itu, saya drill down per wilayah dan kategori produk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Ditemukan: Central-Furniture adalah satu-satunya kombinasi Region x Category yang merugi dari seluruh data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dalamnya, sub-category Tables dan Bookcases adalah kontributor kerugian terbesar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Bahkan secara keseluruhan, hanya 5 dari 12 sub-category yang menyumbang 79% dari total kerugian (pola Pareto) - artinya masalah ini bisa ditangani tanpa mengubah seluruh bisnis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 Masalah Kebijakan, Bukan Pelanggan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terakhir yang perlu dijawab: apakah ini soal jenis pelanggan tertentu?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Ternyata tidak - loss rate konsisten di semua segmen (Consumer, Corporate, Home Office)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menegaskan bahwa akar masalahnya ada di kebijakan diskon itu sendiri, bukan perilaku pelanggan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perlu diperhatikan: total kerugian tahunan naik 69% dari 2015 ke 2018, jadi masalah ini terus membesar jika dibiarkan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Menggabungkan ketiga temuan tadi, saya bisa menyimpulkan akar masalah yang sesungguhnya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"Penjualan turun" yang dilaporkan di awal ternyata hanya gejala permukaan - bukan akar masalah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 sesungguhnya: kebijakan diskon yang tidak mempertimbangkan margin produk per kategori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Selama ini tidak ada batas maksimum diskon, dan tidak ada mekanisme approval untuk diskon besar - sehingga siapa pun bisa memberi diskon berapa pun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BISNIS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 besaran dampak dari akar masalah tersebut terhadap bisnis, jika terus dibiarkan tanpa penanganan: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80360" y="23774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377440"/>
            <a:ext cx="54864" cy="1188720"/>
          </a:xfrm>
          <a:prstGeom prst="rect">
            <a:avLst/>
          </a:prstGeom>
          <a:solidFill>
            <a:srgbClr val="C1653D"/>
          </a:solidFill>
          <a:ln w="12700">
            <a:solidFill>
              <a:srgbClr val="C16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514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6324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Kerugian dari Diskon Tinggi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23774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377440"/>
            <a:ext cx="54864" cy="118872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514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8076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Kerugian Tahunan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237744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2377440"/>
            <a:ext cx="54864" cy="1188720"/>
          </a:xfrm>
          <a:prstGeom prst="rect">
            <a:avLst/>
          </a:prstGeom>
          <a:solidFill>
            <a:srgbClr val="C1653D"/>
          </a:solidFill>
          <a:ln w="12700">
            <a:solidFill>
              <a:srgbClr val="C16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514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-$2,871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098280" y="3017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Central-Furniture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3931920"/>
            <a:ext cx="9052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kerugian yang terus membesar setiap tahun akan menggerus keuntungan perusahaan secara keseluruhan jika dibiarkan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4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Central-Furniture khususnya berisiko terus merugi tanpa intervensi khusus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akar masalah dan dampaknya di atas, berikut tiga langkah yang saya rekomendasikan: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80360" y="2377440"/>
            <a:ext cx="9052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Terapkan batas maksimum diskon 20% untuk kategori Furniture dan Office Supplies - ambang batas ini dipilih karena di titik itulah Profit rata-rata mulai negatif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Wajibkan approval manager untuk diskon di atas 20%, agar tidak ada lagi diskon besar yang diberikan secara sepihak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Evaluasi ulang strategi harga untuk Tables dan Bookcases di wilayah Central, sebagai penanganan khusus untuk titik masalah yang paling parah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2C3E3A"/>
          </a:solidFill>
          <a:ln w="12700">
            <a:solidFill>
              <a:srgbClr val="2C3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1206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YANG DIHARAPKAN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983480"/>
            <a:ext cx="9144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50292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8686800" cy="0"/>
          </a:xfrm>
          <a:prstGeom prst="line">
            <a:avLst/>
          </a:prstGeom>
          <a:noFill/>
          <a:ln w="19050">
            <a:solidFill>
              <a:srgbClr val="C16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9052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ketiga rekomendasi ini dijalankan, berikut hasil yang saya harapkan: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Sebagian besar dari $125K kerugian akibat diskon berlebih berpotensi terselamatkan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perusahaan meningkat, tanpa perlu mengorbankan volume penjualan yang sudah tumbuh baik selama ini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Central-Furniture berpotensi berubah dari merugi menjadi setidaknya impas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1653D"/>
          </a:solidFill>
          <a:ln w="12700">
            <a:solidFill>
              <a:srgbClr val="C16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828800" cy="0"/>
          </a:xfrm>
          <a:prstGeom prst="line">
            <a:avLst/>
          </a:prstGeom>
          <a:noFill/>
          <a:ln w="25400">
            <a:solidFill>
              <a:srgbClr val="C16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E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Masalahnya bukan penjualan yang jelek, tapi kebijakan diskon yang tidak terkontrol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E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ini terkonsentrasi dan bisa ditangani tanpa perombakan besar pada bisnis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E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rekomendasi yang diajukan bersifat data-driven dan bisa diimplementasikan bertahap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C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kasih. Saya siap menjawab pertanyaan.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2026-09-04T06:55:00Z</dcterms:created>
  <dcterms:modified xsi:type="dcterms:W3CDTF">2026-09-04T06:55:00Z</dcterms:modified>
</cp:coreProperties>
</file>