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0C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846320"/>
            <a:ext cx="4114800" cy="2377440"/>
          </a:xfrm>
          <a:prstGeom prst="triangle">
            <a:avLst/>
          </a:prstGeom>
          <a:solidFill>
            <a:srgbClr val="551620"/>
          </a:solidFill>
          <a:ln w="12700">
            <a:solidFill>
              <a:srgbClr val="5516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5394960"/>
            <a:ext cx="2926080" cy="1828800"/>
          </a:xfrm>
          <a:prstGeom prst="triangle">
            <a:avLst/>
          </a:prstGeom>
          <a:solidFill>
            <a:srgbClr val="7A2430"/>
          </a:solidFill>
          <a:ln w="12700">
            <a:solidFill>
              <a:srgbClr val="7A24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965960"/>
            <a:ext cx="2194560" cy="0"/>
          </a:xfrm>
          <a:prstGeom prst="line">
            <a:avLst/>
          </a:prstGeom>
          <a:noFill/>
          <a:ln w="31750">
            <a:solidFill>
              <a:srgbClr val="C6A7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C6A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M S   T I T A N I C   •   1 9 1 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Cleaning &amp; Preparation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4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Mengarungi Data Titanic: dari Kacau ke Siap Analisis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B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Project Mingguan — Minggu 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Sandya Gifta</a:t>
            </a:r>
            <a:pPr indent="0" marL="0">
              <a:buNone/>
            </a:pPr>
            <a:r>
              <a:rPr lang="en-US" sz="1200" dirty="0">
                <a:solidFill>
                  <a:srgbClr val="D9B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Junior Data Analyst Simulation   |   Edusoft Center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607040" y="4572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400" dirty="0">
                <a:solidFill>
                  <a:srgbClr val="C6A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⚓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6A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0C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Sekilas Fakta: RMS Titanic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5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Konteks historis di balik dataset yang saya olah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10698480" cy="0"/>
          </a:xfrm>
          <a:prstGeom prst="line">
            <a:avLst/>
          </a:prstGeom>
          <a:noFill/>
          <a:ln w="19050">
            <a:solidFill>
              <a:srgbClr val="DCC9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96596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EE2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965960"/>
            <a:ext cx="82296" cy="1874520"/>
          </a:xfrm>
          <a:prstGeom prst="rect">
            <a:avLst/>
          </a:prstGeom>
          <a:solidFill>
            <a:srgbClr val="C6A75E"/>
          </a:solidFill>
          <a:ln w="12700">
            <a:solidFill>
              <a:srgbClr val="C6A7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130552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🚢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60120" y="267919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0C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Berlayar 10 April 1912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3044952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5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Southampton menuju New York, pelayaran perdana kapal termewah pada masanya.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09360" y="196596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EE2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1965960"/>
            <a:ext cx="82296" cy="1874520"/>
          </a:xfrm>
          <a:prstGeom prst="rect">
            <a:avLst/>
          </a:prstGeom>
          <a:solidFill>
            <a:srgbClr val="C6A75E"/>
          </a:solidFill>
          <a:ln w="12700">
            <a:solidFill>
              <a:srgbClr val="C6A7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2130552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🧊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537960" y="267919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0C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Tenggelam 15 April 1912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37960" y="3044952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5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Menabrak gunung es di Samudra Atlantik Utara, kurang dari 5 hari setelah berlayar.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1520" y="416052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EE2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160520"/>
            <a:ext cx="82296" cy="1874520"/>
          </a:xfrm>
          <a:prstGeom prst="rect">
            <a:avLst/>
          </a:prstGeom>
          <a:solidFill>
            <a:srgbClr val="C6A75E"/>
          </a:solidFill>
          <a:ln w="12700">
            <a:solidFill>
              <a:srgbClr val="C6A7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325112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60120" y="487375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0C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2.224 orang di kapal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60120" y="5239512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5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Penumpang &amp; kru dari berbagai kelas sosial — data inilah yang saya analisis.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309360" y="416052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EE2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4160520"/>
            <a:ext cx="82296" cy="1874520"/>
          </a:xfrm>
          <a:prstGeom prst="rect">
            <a:avLst/>
          </a:prstGeom>
          <a:solidFill>
            <a:srgbClr val="C6A75E"/>
          </a:solidFill>
          <a:ln w="12700">
            <a:solidFill>
              <a:srgbClr val="C6A7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4325112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💔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537960" y="487375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0C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Sekitar 1.500 jiwa tak selamat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537960" y="5239512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5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Salah satu tragedi maritim paling terkenal dalam sejarah modern.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5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6A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0C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Gambaran Dataset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10698480" cy="0"/>
          </a:xfrm>
          <a:prstGeom prst="line">
            <a:avLst/>
          </a:prstGeom>
          <a:noFill/>
          <a:ln w="19050">
            <a:solidFill>
              <a:srgbClr val="DCC9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63093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Titanic Dataset (Kaggle) — train.csv</a:t>
            </a:r>
            <a:endParaRPr lang="en-US" sz="17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891 baris data penumpang nyata dari manifest RMS Titanic</a:t>
            </a:r>
            <a:endParaRPr lang="en-US" sz="17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kolom awal: identitas, demografi, kelas tiket, hingga status selamat</a:t>
            </a:r>
            <a:endParaRPr lang="en-US" sz="17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Digunakan sebagai studi kasus audit &amp; cleaning data Minggu 3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06640" y="1965960"/>
            <a:ext cx="40233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EE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43800" y="207568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406640" y="207568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3D0C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543800" y="263347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5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Baris Data Penumpang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406640" y="3154680"/>
            <a:ext cx="40233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EE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43800" y="326440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🗂️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406640" y="326440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3D0C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543800" y="38221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5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Kolom Awal (Mentah)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406640" y="4343400"/>
            <a:ext cx="40233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EE2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43800" y="445312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406640" y="445312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3D0C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543800" y="50109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5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Kolom Akhir Setelah Diolah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5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6A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0C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Permasalahan Data yang Ditemukan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5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"Sama seperti gunung es — masalah terbesar ada di bawah permukaan"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10698480" cy="0"/>
          </a:xfrm>
          <a:prstGeom prst="line">
            <a:avLst/>
          </a:prstGeom>
          <a:noFill/>
          <a:ln w="19050">
            <a:solidFill>
              <a:srgbClr val="DCC98F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965960"/>
          <a:ext cx="10698480" cy="3840480"/>
        </p:xfrm>
        <a:graphic>
          <a:graphicData uri="http://schemas.openxmlformats.org/drawingml/2006/table">
            <a:tbl>
              <a:tblPr/>
              <a:tblGrid>
                <a:gridCol w="2743200"/>
                <a:gridCol w="6126480"/>
                <a:gridCol w="18288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Kolom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16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Masalah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16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Jumlah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162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Missing value (19.9%)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177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Cabin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Missing value (77.1%) — mayoritas hilang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687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Embarked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Missing value (0.2%)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Outlier (di luar rentang IQR wajar)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Fare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Outlier (termasuk tarif ekstrem, max 512.33)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Duplicate rows / Duplicate PassengerId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5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6A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0C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Langkah-Langkah Cleaning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10698480" cy="0"/>
          </a:xfrm>
          <a:prstGeom prst="line">
            <a:avLst/>
          </a:prstGeom>
          <a:noFill/>
          <a:ln w="19050">
            <a:solidFill>
              <a:srgbClr val="DCC9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64008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Cek duplicate rows &amp; duplicate PassengerId → drop_duplicates()</a:t>
            </a:r>
            <a:endParaRPr lang="en-US" sz="17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(missing 177) → diisi dengan Median</a:t>
            </a:r>
            <a:endParaRPr lang="en-US" sz="17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Embarked (missing 2) → diisi dengan Mode</a:t>
            </a:r>
            <a:endParaRPr lang="en-US" sz="17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Cabin (missing 687, terlalu banyak untuk diimputasi wajar) → diisi 'Unknown'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06640" y="2194560"/>
            <a:ext cx="40233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EE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43800" y="230428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406640" y="230428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3D0C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543800" y="286207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5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Value Tersisa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406640" y="3383280"/>
            <a:ext cx="40233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EE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43800" y="349300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406640" y="349300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3D0C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543800" y="40507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5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Tersisa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5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6A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0C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Perubahan yang Dilakukan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5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Standardisasi format, tipe data, dan penamaan kolom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10698480" cy="0"/>
          </a:xfrm>
          <a:prstGeom prst="line">
            <a:avLst/>
          </a:prstGeom>
          <a:noFill/>
          <a:ln w="19050">
            <a:solidFill>
              <a:srgbClr val="DCC98F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965960"/>
          <a:ext cx="10698480" cy="3840480"/>
        </p:xfrm>
        <a:graphic>
          <a:graphicData uri="http://schemas.openxmlformats.org/drawingml/2006/table">
            <a:tbl>
              <a:tblPr/>
              <a:tblGrid>
                <a:gridCol w="2743200"/>
                <a:gridCol w="3977640"/>
                <a:gridCol w="397764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Kategori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16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Sebelum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16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Sesudah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162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Rename kolom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PassengerId, Pclass, SibSp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Passenger_Id, P_Class, Sib_Sp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Penulisan huruf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male / female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MALE / FEMALE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Tipe data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int64 / object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category (Survived, P_Class, Sex, Embarked)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Format angka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29.699118 (Age)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29.7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Format mata uang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71.2833 (Fare)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71.28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5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6A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0C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5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kolom baru untuk menangkap insight yang tidak terlihat di data mentah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10698480" cy="0"/>
          </a:xfrm>
          <a:prstGeom prst="line">
            <a:avLst/>
          </a:prstGeom>
          <a:noFill/>
          <a:ln w="19050">
            <a:solidFill>
              <a:srgbClr val="DCC9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103120"/>
            <a:ext cx="2487168" cy="29260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EE2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103120"/>
            <a:ext cx="2487168" cy="82296"/>
          </a:xfrm>
          <a:prstGeom prst="rect">
            <a:avLst/>
          </a:prstGeom>
          <a:solidFill>
            <a:srgbClr val="C6A75E"/>
          </a:solidFill>
          <a:ln w="12700">
            <a:solidFill>
              <a:srgbClr val="C6A7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331720"/>
            <a:ext cx="24871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👪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68680" y="301752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0C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Family_Size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3429000"/>
            <a:ext cx="22128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5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Sib_Sp + Parch + 1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74720" y="2103120"/>
            <a:ext cx="2487168" cy="29260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EE2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0" y="2103120"/>
            <a:ext cx="2487168" cy="82296"/>
          </a:xfrm>
          <a:prstGeom prst="rect">
            <a:avLst/>
          </a:prstGeom>
          <a:solidFill>
            <a:srgbClr val="C6A75E"/>
          </a:solidFill>
          <a:ln w="12700">
            <a:solidFill>
              <a:srgbClr val="C6A7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2331720"/>
            <a:ext cx="24871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🧍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611880" y="301752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0C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Is_Alone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11880" y="3429000"/>
            <a:ext cx="22128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5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jika Family_Size = 1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2103120"/>
            <a:ext cx="2487168" cy="29260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EE2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2103120"/>
            <a:ext cx="2487168" cy="82296"/>
          </a:xfrm>
          <a:prstGeom prst="rect">
            <a:avLst/>
          </a:prstGeom>
          <a:solidFill>
            <a:srgbClr val="C6A75E"/>
          </a:solidFill>
          <a:ln w="12700">
            <a:solidFill>
              <a:srgbClr val="C6A7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2331720"/>
            <a:ext cx="24871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🎂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355080" y="301752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0C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Age_Group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55080" y="3429000"/>
            <a:ext cx="22128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5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Anak / Remaja / Dewasa / Lansia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961120" y="2103120"/>
            <a:ext cx="2487168" cy="29260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EE2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61120" y="2103120"/>
            <a:ext cx="2487168" cy="82296"/>
          </a:xfrm>
          <a:prstGeom prst="rect">
            <a:avLst/>
          </a:prstGeom>
          <a:solidFill>
            <a:srgbClr val="C6A75E"/>
          </a:solidFill>
          <a:ln w="12700">
            <a:solidFill>
              <a:srgbClr val="C6A7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61120" y="2331720"/>
            <a:ext cx="24871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🎩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9098280" y="301752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0C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098280" y="3429000"/>
            <a:ext cx="22128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5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Diekstrak dari Name (Mr, Mrs, Miss, dll)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5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6A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0C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Final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10698480" cy="0"/>
          </a:xfrm>
          <a:prstGeom prst="line">
            <a:avLst/>
          </a:prstGeom>
          <a:noFill/>
          <a:ln w="19050">
            <a:solidFill>
              <a:srgbClr val="DCC9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63093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891 baris x 16 kolom (12 awal + 4 hasil feature engineering)</a:t>
            </a:r>
            <a:endParaRPr lang="en-US" sz="17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missing value, 0 duplicate</a:t>
            </a:r>
            <a:endParaRPr lang="en-US" sz="17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Tipe data &amp; penamaan kolom sudah konsisten</a:t>
            </a:r>
            <a:endParaRPr lang="en-US" sz="17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Siap digunakan untuk Exploratory Data Analysis (EDA) di Minggu 4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06640" y="1965960"/>
            <a:ext cx="40233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EE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43800" y="207568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📐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406640" y="207568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3D0C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891 x 16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543800" y="263347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5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Ukuran Dataset Final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406640" y="3154680"/>
            <a:ext cx="40233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EE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43800" y="326440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🧹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406640" y="326440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3D0C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543800" y="38221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5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Bersih dari Missing Value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406640" y="4343400"/>
            <a:ext cx="40233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EE2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43800" y="445312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406640" y="445312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3D0C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543800" y="50109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5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Untuk Tahap EDA - Minggu 4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5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D0C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6A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Awal Setelah Cleaning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10698480" cy="0"/>
          </a:xfrm>
          <a:prstGeom prst="line">
            <a:avLst/>
          </a:prstGeom>
          <a:noFill/>
          <a:ln w="19050">
            <a:solidFill>
              <a:srgbClr val="C6A7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8308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551620"/>
          </a:solidFill>
          <a:ln w="12700">
            <a:solidFill>
              <a:srgbClr val="6B22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94767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🚻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246888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Perempuan jauh lebih tinggi tingkat selamatnya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60120" y="297180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B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74.2% vs laki-laki hanya 18.9% — "women and children first" terbukti di data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178308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551620"/>
          </a:solidFill>
          <a:ln w="12700">
            <a:solidFill>
              <a:srgbClr val="6B22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94767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🎟️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537960" y="246888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Kelas tiket sangat berpengaruh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37960" y="297180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B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Kelas 1: 63.0%  &gt;  Kelas 2: 47.3%  &gt;  Kelas 3: 24.2%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402336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551620"/>
          </a:solidFill>
          <a:ln w="12700">
            <a:solidFill>
              <a:srgbClr val="6B22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418795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👨‍👩‍👧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60120" y="47091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Bepergian bersama keluarga lebih aman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60120" y="521208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B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50.6% selamat, dibanding 30.4% pada penumpang yang sendirian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9360" y="402336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551620"/>
          </a:solidFill>
          <a:ln w="12700">
            <a:solidFill>
              <a:srgbClr val="6B22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418795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🎈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537960" y="47091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Anak-anak diprioritaskan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537960" y="521208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B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57.9% anak-anak selamat — tertinggi di antara semua kelompok umur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D0C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4114800" cy="2377440"/>
          </a:xfrm>
          <a:prstGeom prst="triangle">
            <a:avLst/>
          </a:prstGeom>
          <a:solidFill>
            <a:srgbClr val="551620"/>
          </a:solidFill>
          <a:ln w="12700">
            <a:solidFill>
              <a:srgbClr val="5516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5212080"/>
            <a:ext cx="2743200" cy="1828800"/>
          </a:xfrm>
          <a:prstGeom prst="triangle">
            <a:avLst/>
          </a:prstGeom>
          <a:solidFill>
            <a:srgbClr val="7A2430"/>
          </a:solidFill>
          <a:ln w="12700">
            <a:solidFill>
              <a:srgbClr val="7A2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⚓  Terima Kasih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4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siap berlayar ke tahap Exploratory Data Analysis — Minggu 4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148840"/>
            <a:ext cx="2743200" cy="0"/>
          </a:xfrm>
          <a:prstGeom prst="line">
            <a:avLst/>
          </a:prstGeom>
          <a:noFill/>
          <a:ln w="25400">
            <a:solidFill>
              <a:srgbClr val="C6A7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77440"/>
            <a:ext cx="6949440" cy="2377440"/>
          </a:xfrm>
          <a:prstGeom prst="roundRect">
            <a:avLst>
              <a:gd name="adj" fmla="val 3077"/>
            </a:avLst>
          </a:prstGeom>
          <a:solidFill>
            <a:srgbClr val="551620"/>
          </a:solidFill>
          <a:ln w="12700">
            <a:solidFill>
              <a:srgbClr val="C6A7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606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6A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Sebagai penutup, sebuah pantun: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3108960"/>
            <a:ext cx="6492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Kapal Titanic berlayar di lautan,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kotor kini sudah dirapikan,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Sekian project minggu ini saya paparkan,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Semoga nilainya turut berkesan! 😄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6263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B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Sandya Gifta   |   Junior Data Analyst Simulation   |   Edusoft Center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2026-07-31T07:42:36Z</dcterms:created>
  <dcterms:modified xsi:type="dcterms:W3CDTF">2026-07-31T07:42:36Z</dcterms:modified>
</cp:coreProperties>
</file>